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34"/>
  </p:notesMasterIdLst>
  <p:sldIdLst>
    <p:sldId id="256" r:id="rId2"/>
    <p:sldId id="266" r:id="rId3"/>
    <p:sldId id="265" r:id="rId4"/>
    <p:sldId id="269" r:id="rId5"/>
    <p:sldId id="274" r:id="rId6"/>
    <p:sldId id="276" r:id="rId7"/>
    <p:sldId id="275" r:id="rId8"/>
    <p:sldId id="271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96" r:id="rId17"/>
    <p:sldId id="292" r:id="rId18"/>
    <p:sldId id="285" r:id="rId19"/>
    <p:sldId id="289" r:id="rId20"/>
    <p:sldId id="288" r:id="rId21"/>
    <p:sldId id="290" r:id="rId22"/>
    <p:sldId id="293" r:id="rId23"/>
    <p:sldId id="294" r:id="rId24"/>
    <p:sldId id="297" r:id="rId25"/>
    <p:sldId id="295" r:id="rId26"/>
    <p:sldId id="298" r:id="rId27"/>
    <p:sldId id="301" r:id="rId28"/>
    <p:sldId id="299" r:id="rId29"/>
    <p:sldId id="302" r:id="rId30"/>
    <p:sldId id="303" r:id="rId31"/>
    <p:sldId id="304" r:id="rId32"/>
    <p:sldId id="305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47" autoAdjust="0"/>
  </p:normalViewPr>
  <p:slideViewPr>
    <p:cSldViewPr snapToGrid="0">
      <p:cViewPr varScale="1">
        <p:scale>
          <a:sx n="127" d="100"/>
          <a:sy n="127" d="100"/>
        </p:scale>
        <p:origin x="548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5b15e83bd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g35b15e83bdf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22" name="Google Shape;22;g35b15e83bdf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E5463C0A-FB50-4E80-5B4C-9A1624D9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CC7CDF76-887D-C95A-E568-72AC3BC74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406F1512-9B86-2E0F-2197-DC7216333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6292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8A5155C6-1742-DE13-B722-0785D42E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0062A16E-C53C-D4E3-3EBC-D63538545E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6A7F30EB-1044-E5A4-5FD8-3EEAA0C50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808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A9C34DF2-CE0F-3907-C72B-CED68F31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2E79C0F7-DA03-8ED8-2560-B2F29D3B0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90B4A1F2-793A-81C9-4609-25117A540A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2066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F73D7600-ED9E-3AB7-207E-B99247C8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22E78483-1249-FA02-DFE7-896FA43E3B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17FA4B80-F79D-3A3F-C6A0-C893F7FC3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915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9F770289-98E2-C4F2-42D2-C44EAB25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8FD221AC-9420-F49C-A4B7-5546E64018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E95D4647-5E83-59C7-A8F2-2DD43583DF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7720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413B1BD8-3490-8586-3A8F-EF024087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2183DA09-422B-9309-800A-4FFAE5E48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A1A53E7F-D6DB-B164-F51C-DB580E472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5311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30F08FDA-8DF6-1FF7-12BB-8534BD09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CB149B38-30BB-2C70-72B0-A5F2F9A837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4C4E54A4-8A06-E86A-28BB-2756A3AF85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147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5CAD19B0-73A8-A954-AE30-4CE87551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C1E0CD37-6ECF-ECC6-6AFF-D1159E80B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025E75CB-5154-12FF-5D76-A298C62B9E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4613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C9A6E1ED-F47C-361E-1F3F-2C7FDE03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F6D9B746-41C1-7EFC-9C4C-C8A96B9E09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54CD8863-F23F-BE3D-7E15-FC22828D0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619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16227C15-0B3D-AA4E-53D1-71831165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7509ECF2-5EB9-B3B5-2EBD-D2095CAB7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E36014A1-F27D-1EC5-11F6-451D9690A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1100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D7130C60-85AA-1BD1-56EE-4D65B55C4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0E5295EF-AB93-40F9-3C49-68E9382F4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07CEB0EC-71ED-2FCD-EADC-90CD40FBE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691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401F2066-8E6E-65A1-AE05-7A4BF687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5BFA21D6-DAD7-D8D9-4DB7-2ABDD2276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012F0762-4389-E06B-6CB5-547309D2D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3545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719C4F81-A8E8-1499-0D1E-E3113792A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BC18AC9C-2E49-A72A-6D44-5D93AFF783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89A14531-37B2-EF2E-95A7-CFB462A44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8905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8134020E-90B4-B107-A57A-DF177F24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B2255F67-541B-435D-E761-745CC0268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CC592EAB-86EF-E4D5-2B29-3DFA36E82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4339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4A836394-7FA5-F907-24F9-1171546DD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CB108A35-8385-95FD-3A72-AA22C057D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0DD5B679-1EFD-FAAC-9AA6-18E794873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2482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0A8ABDA9-66D1-DC3C-C4C7-AC4F622B4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B34F3CB5-C11C-8B07-C5C3-8984C4DCA2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FBD76814-4E74-4BAD-092C-514E68799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2913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FAE33922-8C0D-AD3E-9502-5DC8C636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7A7B8ACE-BF47-7230-CA3F-CA80A645D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D42188A7-1AFE-AC4B-D40C-4566874741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162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5A01547C-39B3-C5E8-2AAA-DC599C9A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05B8EBE7-D2F2-C10C-5C4C-DCFA3B859E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5A9A5860-F654-2406-6263-66E428C87E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68685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F8FACA97-4DBA-9F60-1E40-8B51F343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E9A48256-78B9-6972-3E22-93966EC1F8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2A685B4E-41BD-6C89-4B33-F422DB33B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1785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FD1F095F-6622-1A19-EF06-29838ED0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C0227C7F-5DBA-C01E-3E9E-D33F23513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67123DC2-88ED-AD78-0FBB-C324003EE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6731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F1364800-50D9-1D5E-D836-70E7A3EB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34829697-3800-89C4-5C4A-13DA24DFD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1D177674-2D69-13E6-2AE2-9A6184F30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57129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8A25BEE3-F43E-584D-FD0B-53CA37713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E599DC9E-E437-2391-AF5B-9368E17CF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C90E7D8F-6E94-1C4F-2E6D-EA61E14A7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16418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E5C59F6D-5E32-496B-FA6F-4CBD88FD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C89815EB-CB6D-1531-6C93-60D2CB687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8CCC9926-78F5-2EC3-FB24-7E1AAE6170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64545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254630E1-A94B-680D-F612-5FE4A43F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6682AF87-DB0E-9BCB-D650-EAD650868B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47725B1E-0C1A-AD98-837B-EE4C46094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05129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EED21D0F-2C4E-218F-EEBC-E50E6C0E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0BF0F75D-2949-C7A0-1D62-2D0D7F3F6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E0004064-7E01-8DD8-7E37-FCC07882A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24998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A3181BAB-497F-2D81-6DE6-342348EC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06762208-39F0-3E99-A8D2-0FF74A912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CB66A3EA-2398-F741-2754-787D62505B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23329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091479E4-0154-2FEB-DC46-4B10B3610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BEC6A5D1-F5CA-DC29-7239-170E6CD591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4C065414-33C3-A729-4CE1-906674006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05309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62A081CB-3F77-8460-2FD2-A1A2C074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73E64541-ECF5-EF9C-2AD3-74EC50C7E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55517209-83DE-E74B-282F-8C757F791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06275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3E786BCC-2BE3-FCAB-E095-83082A90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FAC3B066-810E-D9C9-720A-D4191352EE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E0948CA2-6B8D-AAE9-8C06-68B332B543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82960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B134C89C-9E11-442D-A268-4FE429F1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0E6B4E16-319E-C115-16E9-518A5040F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BAEF468D-C013-6ADB-3536-3E9996614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92632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>
          <a:extLst>
            <a:ext uri="{FF2B5EF4-FFF2-40B4-BE49-F238E27FC236}">
              <a16:creationId xmlns:a16="http://schemas.microsoft.com/office/drawing/2014/main" id="{A7BFC731-D3E4-88E5-CF48-63C39932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854c8bd747_3_0:notes">
            <a:extLst>
              <a:ext uri="{FF2B5EF4-FFF2-40B4-BE49-F238E27FC236}">
                <a16:creationId xmlns:a16="http://schemas.microsoft.com/office/drawing/2014/main" id="{3F9238E9-DA11-A1DD-5596-A1C416E241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854c8bd747_3_0:notes">
            <a:extLst>
              <a:ext uri="{FF2B5EF4-FFF2-40B4-BE49-F238E27FC236}">
                <a16:creationId xmlns:a16="http://schemas.microsoft.com/office/drawing/2014/main" id="{4F97925C-B30C-C9CE-B186-B33545DD1B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0651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alibri"/>
              <a:buNone/>
              <a:defRPr sz="4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14582" y="318367"/>
            <a:ext cx="86880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  <a:defRPr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214575" y="898725"/>
            <a:ext cx="8688000" cy="3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6982000" y="4859177"/>
            <a:ext cx="20574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-21700" y="4876075"/>
            <a:ext cx="86880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999999"/>
              </a:solidFill>
            </a:endParaRPr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2"/>
          </p:nvPr>
        </p:nvSpPr>
        <p:spPr>
          <a:xfrm>
            <a:off x="214500" y="4793875"/>
            <a:ext cx="8688000" cy="3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794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  <a:defRPr sz="8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794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○"/>
              <a:defRPr sz="8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794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■"/>
              <a:defRPr sz="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794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  <a:defRPr sz="8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794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○"/>
              <a:defRPr sz="8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794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■"/>
              <a:defRPr sz="8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794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  <a:defRPr sz="8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794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○"/>
              <a:defRPr sz="8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794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■"/>
              <a:defRPr sz="8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08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uFZYu_YK6Q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NgjQkFIZac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탑건 우라늄 시설 폭파 작전 투입 장면 | 탑건: 매버릭 (Top Gun: Maverick, 2022) [4K]">
            <a:extLst>
              <a:ext uri="{FF2B5EF4-FFF2-40B4-BE49-F238E27FC236}">
                <a16:creationId xmlns:a16="http://schemas.microsoft.com/office/drawing/2014/main" id="{DC1117FB-0B1B-24B6-84B0-812B31C95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8000"/>
                    </a14:imgEffect>
                    <a14:imgEffect>
                      <a14:brightnessContrast bright="-21000" contrast="-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ffectLst>
            <a:outerShdw blurRad="101600" dist="50800" dir="5400000" sx="1000" sy="1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oogle Shape;24;p4"/>
          <p:cNvSpPr txBox="1"/>
          <p:nvPr/>
        </p:nvSpPr>
        <p:spPr>
          <a:xfrm>
            <a:off x="5699234" y="-1466193"/>
            <a:ext cx="1386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ctrTitle"/>
          </p:nvPr>
        </p:nvSpPr>
        <p:spPr>
          <a:xfrm>
            <a:off x="311700" y="397862"/>
            <a:ext cx="8520600" cy="16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206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“Top Gun: Maverick </a:t>
            </a:r>
            <a:r>
              <a:rPr lang="en-US" altLang="ko-KR" sz="3200" b="1" dirty="0">
                <a:solidFill>
                  <a:srgbClr val="00206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- </a:t>
            </a:r>
            <a:r>
              <a:rPr lang="en-US" sz="3200" b="1" dirty="0">
                <a:solidFill>
                  <a:srgbClr val="00206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Dog Fight”</a:t>
            </a:r>
            <a:br>
              <a:rPr lang="en-US" sz="3200" b="1" dirty="0">
                <a:solidFill>
                  <a:srgbClr val="00206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</a:br>
            <a:r>
              <a:rPr lang="en-US" sz="1800" dirty="0">
                <a:solidFill>
                  <a:srgbClr val="00206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</a:t>
            </a:r>
            <a:r>
              <a:rPr lang="ko-KR" altLang="en-US" sz="1800" dirty="0">
                <a:solidFill>
                  <a:srgbClr val="00206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공중전 에이전트 성능 최적화를 위한 강화학습 설계 요소 비교 분석</a:t>
            </a:r>
            <a:r>
              <a:rPr lang="en-US" altLang="ko-KR" sz="1800" dirty="0">
                <a:solidFill>
                  <a:srgbClr val="002060"/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)</a:t>
            </a:r>
            <a:endParaRPr sz="1800" dirty="0">
              <a:solidFill>
                <a:srgbClr val="002060"/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311700" y="3655018"/>
            <a:ext cx="3288750" cy="1342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2025.</a:t>
            </a:r>
            <a:r>
              <a:rPr lang="en-US" altLang="ko" sz="1800" dirty="0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12</a:t>
            </a:r>
            <a:r>
              <a:rPr lang="ko" sz="1800" dirty="0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.0</a:t>
            </a:r>
            <a:r>
              <a:rPr lang="en-US" altLang="ko" sz="1800" dirty="0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7</a:t>
            </a:r>
            <a:endParaRPr sz="1800" dirty="0">
              <a:latin typeface="LG Smart UI SemiBold" panose="020B0700000101010101" pitchFamily="34" charset="-127"/>
              <a:ea typeface="LG Smart UI SemiBold" panose="020B0700000101010101" pitchFamily="34" charset="-127"/>
              <a:cs typeface="ADLaM Display" panose="020F0502020204030204" pitchFamily="2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 err="1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탑건</a:t>
            </a:r>
            <a:r>
              <a:rPr lang="en-US" altLang="ko-KR" sz="1800" dirty="0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: </a:t>
            </a:r>
            <a:r>
              <a:rPr lang="ko-KR" altLang="en-US" sz="1800" dirty="0" err="1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매버릭</a:t>
            </a:r>
            <a:r>
              <a:rPr lang="ko-KR" altLang="en-US" sz="1800" dirty="0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 </a:t>
            </a:r>
            <a:endParaRPr lang="en-US" altLang="ko-KR" sz="1800" dirty="0">
              <a:latin typeface="LG Smart UI SemiBold" panose="020B0700000101010101" pitchFamily="34" charset="-127"/>
              <a:ea typeface="LG Smart UI SemiBold" panose="020B0700000101010101" pitchFamily="34" charset="-127"/>
              <a:cs typeface="ADLaM Display" panose="020F0502020204030204" pitchFamily="2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서강대학교 </a:t>
            </a:r>
            <a:r>
              <a:rPr lang="en-US" altLang="ko" sz="1800" dirty="0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20211214 </a:t>
            </a:r>
            <a:r>
              <a:rPr lang="ko-KR" altLang="en-US" sz="1800" dirty="0" err="1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한민성</a:t>
            </a:r>
            <a:r>
              <a:rPr lang="ko-KR" altLang="en-US" sz="1800" dirty="0">
                <a:latin typeface="LG Smart UI SemiBold" panose="020B0700000101010101" pitchFamily="34" charset="-127"/>
                <a:ea typeface="LG Smart UI SemiBold" panose="020B0700000101010101" pitchFamily="34" charset="-127"/>
                <a:cs typeface="ADLaM Display" panose="020F0502020204030204" pitchFamily="2" charset="0"/>
              </a:rPr>
              <a:t>                        </a:t>
            </a:r>
            <a:endParaRPr sz="1800" dirty="0">
              <a:latin typeface="LG Smart UI SemiBold" panose="020B0700000101010101" pitchFamily="34" charset="-127"/>
              <a:ea typeface="LG Smart UI SemiBold" panose="020B0700000101010101" pitchFamily="34" charset="-127"/>
              <a:cs typeface="ADLaM Display" panose="020F05020202040302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6C9A1-2EA8-65D6-3F06-9CCF50343FC1}"/>
              </a:ext>
            </a:extLst>
          </p:cNvPr>
          <p:cNvSpPr txBox="1"/>
          <p:nvPr/>
        </p:nvSpPr>
        <p:spPr>
          <a:xfrm>
            <a:off x="6330950" y="4584055"/>
            <a:ext cx="33929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E-Mail: alwayzhan@gmail.com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D45529FE-4A64-A37C-AE38-8A963E4A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9B033936-0593-4C53-8440-DBA225CFCD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목차</a:t>
            </a:r>
            <a:endParaRPr sz="1700" b="0" dirty="0">
              <a:solidFill>
                <a:schemeClr val="accent1">
                  <a:lumMod val="50000"/>
                </a:schemeClr>
              </a:solidFill>
              <a:latin typeface="LG Smart UI Bold" panose="020B0800000101010101" pitchFamily="34" charset="-127"/>
              <a:ea typeface="LG Smart UI Bold" panose="020B08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10C8EA3B-7A1E-5051-C0A2-277FE5839B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847874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ko-KR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1. </a:t>
            </a:r>
            <a:r>
              <a:rPr lang="ko-KR" altLang="en-US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프로젝트 주제 및 목표</a:t>
            </a:r>
            <a:endParaRPr lang="en-US" altLang="ko-KR" sz="1817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ko-KR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2. </a:t>
            </a:r>
            <a:r>
              <a:rPr lang="ko-KR" altLang="en-US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시뮬레이션 환경 및 규칙</a:t>
            </a:r>
            <a:endParaRPr lang="en-US" altLang="ko-KR" sz="1817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ko-KR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3. </a:t>
            </a:r>
            <a:r>
              <a:rPr lang="ko-KR" altLang="en-US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환경 설계 및 난이도 정의</a:t>
            </a:r>
            <a:endParaRPr lang="en-US" altLang="ko-KR" sz="1817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ko-KR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4. </a:t>
            </a:r>
            <a:r>
              <a:rPr lang="ko-KR" altLang="en-US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강화학습 설계</a:t>
            </a:r>
            <a:endParaRPr lang="en-US" altLang="ko-KR" sz="1817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ko-KR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5. </a:t>
            </a:r>
            <a:r>
              <a:rPr lang="ko-KR" altLang="en-US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강화학습 알고리즘 선정 및 </a:t>
            </a:r>
            <a:r>
              <a:rPr lang="en-US" altLang="ko-KR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Hyperparameter </a:t>
            </a:r>
            <a:r>
              <a:rPr lang="ko-KR" altLang="en-US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설정</a:t>
            </a:r>
            <a:endParaRPr lang="en-US" altLang="ko-KR" sz="1817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ko-KR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6. </a:t>
            </a:r>
            <a:r>
              <a:rPr lang="ko-KR" altLang="en-US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실험 셋업</a:t>
            </a:r>
            <a:endParaRPr lang="en-US" altLang="ko-KR" sz="1817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ko-KR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7. </a:t>
            </a:r>
            <a:r>
              <a:rPr lang="ko-KR" altLang="en-US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실험 결과</a:t>
            </a:r>
            <a:endParaRPr lang="en-US" altLang="ko-KR" sz="1817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ko-KR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8. </a:t>
            </a:r>
            <a:r>
              <a:rPr lang="ko-KR" altLang="en-US" sz="1817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토의 및 결론</a:t>
            </a:r>
            <a:endParaRPr lang="en-US" altLang="ko-KR" sz="1817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342900" lvl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endParaRPr lang="en-US" altLang="ko-KR" sz="1817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342900" lvl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endParaRPr lang="en-US" sz="125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8529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AB461816-1C61-0B86-FBFD-9EEAF6F5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C9BAA500-2B35-6D6E-670F-ADC625F22A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1.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프로젝트 주제 및 목표</a:t>
            </a:r>
            <a:endParaRPr sz="17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4" name="Google Shape;34;p5">
            <a:extLst>
              <a:ext uri="{FF2B5EF4-FFF2-40B4-BE49-F238E27FC236}">
                <a16:creationId xmlns:a16="http://schemas.microsoft.com/office/drawing/2014/main" id="{FC633ED3-8BF3-6BC0-0826-C4C9B91DC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4430685"/>
            <a:ext cx="8123100" cy="1039255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>
              <a:spcAft>
                <a:spcPts val="1200"/>
              </a:spcAft>
              <a:buSzPct val="84615"/>
              <a:buNone/>
            </a:pPr>
            <a:r>
              <a:rPr lang="en-US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Dogfight: </a:t>
            </a:r>
            <a:r>
              <a:rPr lang="ko-KR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두 전투기가 서로를 충분히 볼 수 있는 거리에서 벌이는 근접 공중전</a:t>
            </a:r>
            <a:b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관련 영상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1: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3"/>
              </a:rPr>
              <a:t>https://www.youtube.com/watch?v=huFZYu_YK6Q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              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관련 영상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2: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  <a:hlinkClick r:id="rId4"/>
              </a:rPr>
              <a:t>https://www.youtube.com/watch?v=NgjQkFIZaco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endParaRPr sz="10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5" name="Google Shape;32;p5">
            <a:extLst>
              <a:ext uri="{FF2B5EF4-FFF2-40B4-BE49-F238E27FC236}">
                <a16:creationId xmlns:a16="http://schemas.microsoft.com/office/drawing/2014/main" id="{0966983F-4C52-4872-F94E-682BBB02C0EA}"/>
              </a:ext>
            </a:extLst>
          </p:cNvPr>
          <p:cNvSpPr txBox="1">
            <a:spLocks/>
          </p:cNvSpPr>
          <p:nvPr/>
        </p:nvSpPr>
        <p:spPr>
          <a:xfrm>
            <a:off x="163130" y="857886"/>
            <a:ext cx="8797990" cy="378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Font typeface="Calibri"/>
              <a:buNone/>
            </a:pP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프로젝트 주제</a:t>
            </a:r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강화학습을 활용한 자율 공중전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(Dogfight)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에이전트 프로젝트이다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2D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공중전 시뮬레이션 환경에서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강화학습 에이전트의 </a:t>
            </a: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효율을 극대화하는 설계 요소</a:t>
            </a:r>
            <a:r>
              <a:rPr lang="en-US" altLang="ko-KR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환경</a:t>
            </a:r>
            <a:r>
              <a:rPr lang="en-US" altLang="ko-KR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·</a:t>
            </a: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보상</a:t>
            </a:r>
            <a:r>
              <a:rPr lang="en-US" altLang="ko-KR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·</a:t>
            </a: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알고리즘</a:t>
            </a:r>
            <a:r>
              <a:rPr lang="en-US" altLang="ko-KR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·</a:t>
            </a: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</a:t>
            </a:r>
            <a:r>
              <a:rPr lang="en-US" altLang="ko-KR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·</a:t>
            </a: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학습전략</a:t>
            </a:r>
            <a:r>
              <a:rPr lang="en-US" altLang="ko-KR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를 비교 분석하는 프로젝트이다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17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17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Font typeface="Calibri"/>
              <a:buNone/>
            </a:pP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프로젝트 목표</a:t>
            </a:r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ko-KR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강화학습이 학습 가능한 최적 환경(</a:t>
            </a:r>
            <a:r>
              <a:rPr lang="ko-KR" altLang="ko-KR" sz="16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난이도·보상·규칙</a:t>
            </a:r>
            <a:r>
              <a:rPr lang="ko-KR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 설계 기준 규명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한다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   </a:t>
            </a:r>
            <a:r>
              <a:rPr lang="ko-KR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PPO </a:t>
            </a:r>
            <a:r>
              <a:rPr lang="ko-KR" altLang="ko-KR" sz="16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vs</a:t>
            </a:r>
            <a:r>
              <a:rPr lang="ko-KR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SAC, 네트워크 유닛 수, 학습 전략(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HARD, </a:t>
            </a:r>
            <a:r>
              <a:rPr lang="ko-KR" altLang="ko-KR" sz="16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</a:t>
            </a:r>
            <a:r>
              <a:rPr lang="ko-KR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등)의 효율성 정량 비교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한다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3.   </a:t>
            </a:r>
            <a:r>
              <a:rPr lang="ko-KR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객관적이고 공정한 평가 체계(</a:t>
            </a:r>
            <a:r>
              <a:rPr lang="ko-KR" altLang="ko-KR" sz="16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Win</a:t>
            </a:r>
            <a:r>
              <a:rPr lang="ko-KR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ko-KR" sz="16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Rate</a:t>
            </a:r>
            <a:r>
              <a:rPr lang="ko-KR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기반)를 구축하여 최적 조합 도출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한다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  <a:endParaRPr lang="ko-KR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Font typeface="Calibri"/>
              <a:buNone/>
            </a:pPr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867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65D418B8-6149-EFDF-4EF6-C0499637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7220FF4C-5C1E-E219-85D3-AF81C7D444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1.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프로젝트 주제 및 목표</a:t>
            </a:r>
            <a:r>
              <a:rPr lang="ko" sz="20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</a:t>
            </a:r>
            <a:r>
              <a:rPr lang="en-US" altLang="ko" sz="20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 </a:t>
            </a:r>
            <a:r>
              <a:rPr lang="ko-KR" altLang="en-US" sz="20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핵심 방향</a:t>
            </a:r>
            <a:endParaRPr sz="17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61A4C19F-1986-D1BB-4072-341B2981A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847874"/>
            <a:ext cx="8421984" cy="3787626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“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승리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“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보다 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“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최적화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”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에 집중</a:t>
            </a:r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단순히 적을 이기는 모델을 만드는 것은 쉽다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(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최종본의 세팅 값에서 난이도를 낮추면 되고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step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수를 늘리면 됩니다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.)</a:t>
            </a:r>
          </a:p>
          <a:p>
            <a:pPr marL="342900" lvl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어떤 환경 및 학습 전략 하에서 에이전트가 가장 효율적으로 학습하는가를 분석하는 데 초점을 맞췄다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  <a:endParaRPr lang="en-US" sz="1817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1817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비교 분석</a:t>
            </a:r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알고리즘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PPO vs SAC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알고리즘 비교 </a:t>
            </a: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구조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신경망 유닛 수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(64 vs 128 vs 256)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따른 수렴 속도와 효율성 비교</a:t>
            </a: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전략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여러 가지 고정 환경 학습과 커리큘럼 학습의 최종 수렴 안정성 비교</a:t>
            </a:r>
            <a:endParaRPr lang="en-US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2" name="Google Shape;34;p5">
            <a:extLst>
              <a:ext uri="{FF2B5EF4-FFF2-40B4-BE49-F238E27FC236}">
                <a16:creationId xmlns:a16="http://schemas.microsoft.com/office/drawing/2014/main" id="{2F2F98CA-E0FC-974D-18A7-D1750A23DA88}"/>
              </a:ext>
            </a:extLst>
          </p:cNvPr>
          <p:cNvSpPr txBox="1">
            <a:spLocks/>
          </p:cNvSpPr>
          <p:nvPr/>
        </p:nvSpPr>
        <p:spPr>
          <a:xfrm>
            <a:off x="0" y="4227693"/>
            <a:ext cx="8123100" cy="103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Aft>
                <a:spcPts val="1200"/>
              </a:spcAft>
              <a:buSzPct val="84615"/>
              <a:buFont typeface="Calibri"/>
              <a:buNone/>
            </a:pPr>
            <a:r>
              <a:rPr lang="ko-KR" altLang="en-US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독자적인 시뮬레이션 환경</a:t>
            </a:r>
            <a:r>
              <a:rPr lang="en-US" altLang="ko-KR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구축</a:t>
            </a:r>
            <a:b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1) State, Action, Reward 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설계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2) Agent 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및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Enemy 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설정 설계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  3) 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실험 환경 설계</a:t>
            </a:r>
          </a:p>
        </p:txBody>
      </p:sp>
    </p:spTree>
    <p:extLst>
      <p:ext uri="{BB962C8B-B14F-4D97-AF65-F5344CB8AC3E}">
        <p14:creationId xmlns:p14="http://schemas.microsoft.com/office/powerpoint/2010/main" val="3165375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C7C51D72-09C0-1E4C-20AE-719C6744C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2F7C5-413C-797B-6E85-7BDBDA8991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7" t="9918" r="4928" b="9185"/>
          <a:stretch>
            <a:fillRect/>
          </a:stretch>
        </p:blipFill>
        <p:spPr>
          <a:xfrm>
            <a:off x="2402238" y="2265258"/>
            <a:ext cx="3218480" cy="2433540"/>
          </a:xfrm>
          <a:prstGeom prst="rect">
            <a:avLst/>
          </a:prstGeom>
        </p:spPr>
      </p:pic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9D4104B2-72C5-93FB-C622-56DD88EA9E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2.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시뮬레이션 환경 및 규칙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시뮬레이션 개요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F7E396D7-C1E0-0AFE-CF95-7071CF332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847874"/>
            <a:ext cx="8421984" cy="3787626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환경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2 Gymnasium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기반의 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2D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공중전 시뮬레이터 구축 </a:t>
            </a: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물리 모델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6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고정익기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(Fixed-wing)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역학을 단순화하여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일정 속력으로 방향을 전환함</a:t>
            </a: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구성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항공 역학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속도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6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선회율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등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),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적기 전술 로직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(Rule-based AI),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보상 함수 등 실험에 필요한 모든 변수를 직접 하드 코딩하며 설계하여 실험 변수를 완벽히 통제함</a:t>
            </a: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sz="1817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3" name="Google Shape;34;p5">
            <a:extLst>
              <a:ext uri="{FF2B5EF4-FFF2-40B4-BE49-F238E27FC236}">
                <a16:creationId xmlns:a16="http://schemas.microsoft.com/office/drawing/2014/main" id="{596F64D8-EEB9-4D64-CECA-C9A019A92133}"/>
              </a:ext>
            </a:extLst>
          </p:cNvPr>
          <p:cNvSpPr txBox="1">
            <a:spLocks/>
          </p:cNvSpPr>
          <p:nvPr/>
        </p:nvSpPr>
        <p:spPr>
          <a:xfrm>
            <a:off x="0" y="4354819"/>
            <a:ext cx="8123100" cy="103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Aft>
                <a:spcPts val="1200"/>
              </a:spcAft>
              <a:buSzPct val="84615"/>
              <a:buFont typeface="Calibri"/>
              <a:buNone/>
            </a:pPr>
            <a:r>
              <a:rPr lang="ko-KR" altLang="en-US" sz="1000" b="1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선회율</a:t>
            </a:r>
            <a:r>
              <a:rPr lang="en-US" altLang="ko-KR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전투기가 방향을 얼마나 빠르게 바꾸는가</a:t>
            </a:r>
            <a:b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r>
              <a:rPr lang="en-US" altLang="ko-KR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Lock-on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위 게임에서는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Lock-on 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조건이 되면 상대의 체력이 매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step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마다 깎이게 된다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(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매 스텝마다 기관총을 </a:t>
            </a:r>
            <a:r>
              <a:rPr lang="ko-KR" altLang="en-US" sz="10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고쏜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6677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02A35837-BBE5-06FD-C194-9999984A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2FA84730-C6EF-9A1F-AFB1-387F7AFA2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2.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시뮬레이션 환경 및 규칙</a:t>
            </a:r>
            <a:endParaRPr sz="1700" b="0" dirty="0">
              <a:solidFill>
                <a:schemeClr val="accent1">
                  <a:lumMod val="50000"/>
                </a:schemeClr>
              </a:solidFill>
              <a:latin typeface="LG Smart UI Bold" panose="020B0800000101010101" pitchFamily="34" charset="-127"/>
              <a:ea typeface="LG Smart UI Bold" panose="020B08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98EA536D-A35E-6765-3B20-87783D86A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847874"/>
            <a:ext cx="8421984" cy="3787626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전투 및 승리 규칙</a:t>
            </a:r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승리 조건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적기를 향해 </a:t>
            </a:r>
            <a:r>
              <a:rPr lang="ko-KR" altLang="en-US" sz="16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조준원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(Lock-on) 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안에서 일정 시간 동안 유지하여 상대의 체력을 </a:t>
            </a:r>
            <a:r>
              <a:rPr lang="en-US" altLang="ko-KR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0</a:t>
            </a:r>
            <a:r>
              <a:rPr lang="ko-KR" altLang="en-US" sz="16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만들면 승리</a:t>
            </a: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공격 </a:t>
            </a:r>
            <a:r>
              <a:rPr lang="ko-KR" altLang="en-US" sz="1600" b="1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매커니즘</a:t>
            </a:r>
            <a:endParaRPr lang="en-US" altLang="ko-KR" sz="1600" b="1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거리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사거리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(LOCK_DIST)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이내 진입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각도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적기가 내 기수 전방 특정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(LOCK_ANGLE)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이내에 위치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판정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위 두 조건을 만족하면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‘Lock-on’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상태가 되며 적에게 지속적인 데미지를 줌 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시뮬레이션 세부 규칙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시작점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확률에 따라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(1) ‘Agent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유리한 위치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적의 뒤에서 시작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)’, (2) ‘Agent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와 적 모두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Random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위치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’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에서 시작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적의 전략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확률에 따라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(1) ‘PURSUIT(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추격 알고리즘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)’, 2) ‘HYBRID(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회피기동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+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추격 알고리즘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)’, (3) ‘LEFT/RIGHT(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노이즈를 포함한 각도로 좌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/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우 방향으로 원을 그리는 알고리즘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)’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중에 하나의 전략을 선택하여 진행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종료 조건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(1) ‘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체력이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0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 되어 격추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’, (2) ‘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충돌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’, (3) ‘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맵 밖으로 이탈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’, (4) ‘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일정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step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도달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’</a:t>
            </a:r>
          </a:p>
        </p:txBody>
      </p:sp>
      <p:sp>
        <p:nvSpPr>
          <p:cNvPr id="3" name="Google Shape;34;p5">
            <a:extLst>
              <a:ext uri="{FF2B5EF4-FFF2-40B4-BE49-F238E27FC236}">
                <a16:creationId xmlns:a16="http://schemas.microsoft.com/office/drawing/2014/main" id="{0D9F5398-861D-6EB1-FA7A-7C8BD223690A}"/>
              </a:ext>
            </a:extLst>
          </p:cNvPr>
          <p:cNvSpPr txBox="1">
            <a:spLocks/>
          </p:cNvSpPr>
          <p:nvPr/>
        </p:nvSpPr>
        <p:spPr>
          <a:xfrm>
            <a:off x="0" y="4354819"/>
            <a:ext cx="8123100" cy="103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Aft>
                <a:spcPts val="1200"/>
              </a:spcAft>
              <a:buSzPct val="84615"/>
              <a:buFont typeface="Calibri"/>
              <a:buNone/>
            </a:pPr>
            <a:r>
              <a:rPr lang="ko-KR" altLang="en-US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회피 기동 알고리즘</a:t>
            </a:r>
            <a:r>
              <a:rPr lang="en-US" altLang="ko-KR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적에게 공격당할 수 있는 특정 조건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(ex. Lock-on)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 되었을 때 급격하게 방향을 틀어 적의 공격 범위에서 벗어나는 알고리즘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971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BB06C778-2793-EAF2-D973-148E4C6A1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F12B2B47-8805-788A-6D73-B96D27E2DF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2.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시뮬레이션 환경 및 규칙</a:t>
            </a:r>
            <a:endParaRPr sz="1700" b="0" dirty="0">
              <a:solidFill>
                <a:schemeClr val="accent1">
                  <a:lumMod val="50000"/>
                </a:schemeClr>
              </a:solidFill>
              <a:latin typeface="LG Smart UI Bold" panose="020B0800000101010101" pitchFamily="34" charset="-127"/>
              <a:ea typeface="LG Smart UI Bold" panose="020B08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7099799F-A6CB-CB67-983E-3FA5C64F0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847874"/>
            <a:ext cx="8421984" cy="3787626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기하학적 관계</a:t>
            </a:r>
            <a:endParaRPr lang="en-US" altLang="ko-KR" b="1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en-US" altLang="ko-KR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Heading: 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기수의 각도 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향하고 있는 방향의 절대적 각도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en-US" altLang="ko-KR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ATA(Antenna Train Angle)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내 기축선과 적기 사이의 각도 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(Lock-on 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조준 여부 판단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en-US" altLang="ko-KR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AA(Aspect Angle)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적기의 꼬리 방향과 나 사이의 각도 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내가 적의 뒤에 있는지 판단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핵심 목표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ATA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줄여 조준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공격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 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가능하도록 하고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AA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줄여 꼬리를 잡은 상태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공격에 유리하며 적에게 공격을 당하지 않는 위치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유지하는 것</a:t>
            </a:r>
            <a:endParaRPr lang="en-US" altLang="ko-KR" sz="12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endParaRPr lang="en-US" altLang="ko-KR" sz="12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3" name="Google Shape;34;p5">
            <a:extLst>
              <a:ext uri="{FF2B5EF4-FFF2-40B4-BE49-F238E27FC236}">
                <a16:creationId xmlns:a16="http://schemas.microsoft.com/office/drawing/2014/main" id="{449EF657-E3EF-5016-04E8-5423C1AA8A3F}"/>
              </a:ext>
            </a:extLst>
          </p:cNvPr>
          <p:cNvSpPr txBox="1">
            <a:spLocks/>
          </p:cNvSpPr>
          <p:nvPr/>
        </p:nvSpPr>
        <p:spPr>
          <a:xfrm>
            <a:off x="0" y="4532493"/>
            <a:ext cx="8123100" cy="103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Aft>
                <a:spcPts val="1200"/>
              </a:spcAft>
              <a:buSzPct val="84615"/>
              <a:buFont typeface="Calibri"/>
              <a:buNone/>
            </a:pPr>
            <a:r>
              <a:rPr lang="ko-KR" altLang="en-US" sz="1000" b="1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선회율</a:t>
            </a:r>
            <a:r>
              <a:rPr lang="en-US" altLang="ko-KR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전투기가 방향을 얼마나 빠르게 바꾸는가</a:t>
            </a:r>
          </a:p>
        </p:txBody>
      </p:sp>
      <p:pic>
        <p:nvPicPr>
          <p:cNvPr id="4" name="그래픽 3" descr="비행기 윤곽선">
            <a:extLst>
              <a:ext uri="{FF2B5EF4-FFF2-40B4-BE49-F238E27FC236}">
                <a16:creationId xmlns:a16="http://schemas.microsoft.com/office/drawing/2014/main" id="{4C1F3C1D-0623-476D-92D3-644727BD5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247540">
            <a:off x="3140713" y="3163936"/>
            <a:ext cx="914400" cy="914400"/>
          </a:xfrm>
          <a:prstGeom prst="rect">
            <a:avLst/>
          </a:prstGeom>
        </p:spPr>
      </p:pic>
      <p:pic>
        <p:nvPicPr>
          <p:cNvPr id="6" name="그래픽 5" descr="비행기 단색으로 채워진">
            <a:extLst>
              <a:ext uri="{FF2B5EF4-FFF2-40B4-BE49-F238E27FC236}">
                <a16:creationId xmlns:a16="http://schemas.microsoft.com/office/drawing/2014/main" id="{6180CFFA-779E-F98D-4EDF-178F212661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510482">
            <a:off x="1370692" y="3574500"/>
            <a:ext cx="914400" cy="914400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548E940-3F52-E8A1-DD2A-470C04D8ED73}"/>
              </a:ext>
            </a:extLst>
          </p:cNvPr>
          <p:cNvCxnSpPr>
            <a:cxnSpLocks/>
          </p:cNvCxnSpPr>
          <p:nvPr/>
        </p:nvCxnSpPr>
        <p:spPr>
          <a:xfrm flipV="1">
            <a:off x="930505" y="2986167"/>
            <a:ext cx="2552054" cy="1571218"/>
          </a:xfrm>
          <a:prstGeom prst="line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ED3697B-8609-A6DF-3E7E-D968669A8AD5}"/>
              </a:ext>
            </a:extLst>
          </p:cNvPr>
          <p:cNvCxnSpPr>
            <a:cxnSpLocks/>
          </p:cNvCxnSpPr>
          <p:nvPr/>
        </p:nvCxnSpPr>
        <p:spPr>
          <a:xfrm>
            <a:off x="2483423" y="2883087"/>
            <a:ext cx="2093474" cy="1405614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61FE104-42E2-9403-3F29-F276C1F0A455}"/>
              </a:ext>
            </a:extLst>
          </p:cNvPr>
          <p:cNvCxnSpPr>
            <a:cxnSpLocks/>
          </p:cNvCxnSpPr>
          <p:nvPr/>
        </p:nvCxnSpPr>
        <p:spPr>
          <a:xfrm flipV="1">
            <a:off x="1827892" y="3621136"/>
            <a:ext cx="1770021" cy="425234"/>
          </a:xfrm>
          <a:prstGeom prst="line">
            <a:avLst/>
          </a:prstGeom>
          <a:ln w="19050" cap="flat" cmpd="sng" algn="ctr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D640FD-B54F-A170-BD61-1A90B883E00B}"/>
              </a:ext>
            </a:extLst>
          </p:cNvPr>
          <p:cNvSpPr txBox="1"/>
          <p:nvPr/>
        </p:nvSpPr>
        <p:spPr>
          <a:xfrm>
            <a:off x="2291160" y="3636220"/>
            <a:ext cx="6018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ATA</a:t>
            </a:r>
            <a:endParaRPr lang="ko-KR" altLang="en-US" sz="1000" b="1" dirty="0"/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43916F5E-DCD7-A39F-C6DF-424EB7A30F16}"/>
              </a:ext>
            </a:extLst>
          </p:cNvPr>
          <p:cNvSpPr/>
          <p:nvPr/>
        </p:nvSpPr>
        <p:spPr>
          <a:xfrm rot="1098746">
            <a:off x="2063908" y="3750993"/>
            <a:ext cx="273629" cy="289058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9" name="그래픽 28" descr="비행기 윤곽선">
            <a:extLst>
              <a:ext uri="{FF2B5EF4-FFF2-40B4-BE49-F238E27FC236}">
                <a16:creationId xmlns:a16="http://schemas.microsoft.com/office/drawing/2014/main" id="{FF45F9E5-27A7-B4F8-EE58-2D0DA0A82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6663172" y="2616705"/>
            <a:ext cx="914400" cy="914400"/>
          </a:xfrm>
          <a:prstGeom prst="rect">
            <a:avLst/>
          </a:prstGeom>
        </p:spPr>
      </p:pic>
      <p:pic>
        <p:nvPicPr>
          <p:cNvPr id="30" name="그래픽 29" descr="비행기 단색으로 채워진">
            <a:extLst>
              <a:ext uri="{FF2B5EF4-FFF2-40B4-BE49-F238E27FC236}">
                <a16:creationId xmlns:a16="http://schemas.microsoft.com/office/drawing/2014/main" id="{F8F41274-39F3-5F7B-F118-ED3BF22E57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913587">
            <a:off x="5599265" y="3531719"/>
            <a:ext cx="914400" cy="914400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43DF5FB-CE00-4BCB-9738-463C20185759}"/>
              </a:ext>
            </a:extLst>
          </p:cNvPr>
          <p:cNvCxnSpPr>
            <a:cxnSpLocks/>
          </p:cNvCxnSpPr>
          <p:nvPr/>
        </p:nvCxnSpPr>
        <p:spPr>
          <a:xfrm flipV="1">
            <a:off x="5575065" y="3002242"/>
            <a:ext cx="2766075" cy="1188365"/>
          </a:xfrm>
          <a:prstGeom prst="line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EF67AAA-9875-272D-CA7F-30C5CB9DBE52}"/>
              </a:ext>
            </a:extLst>
          </p:cNvPr>
          <p:cNvCxnSpPr>
            <a:cxnSpLocks/>
          </p:cNvCxnSpPr>
          <p:nvPr/>
        </p:nvCxnSpPr>
        <p:spPr>
          <a:xfrm flipV="1">
            <a:off x="5102473" y="3060839"/>
            <a:ext cx="3480386" cy="42987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0111C5E-8CE1-B4A5-499D-4198811E17C7}"/>
              </a:ext>
            </a:extLst>
          </p:cNvPr>
          <p:cNvCxnSpPr>
            <a:cxnSpLocks/>
          </p:cNvCxnSpPr>
          <p:nvPr/>
        </p:nvCxnSpPr>
        <p:spPr>
          <a:xfrm flipV="1">
            <a:off x="6034234" y="3057294"/>
            <a:ext cx="1042096" cy="928510"/>
          </a:xfrm>
          <a:prstGeom prst="line">
            <a:avLst/>
          </a:prstGeom>
          <a:ln w="19050" cap="flat" cmpd="sng" algn="ctr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B00EE05-644C-CFD8-F351-46F12F42371B}"/>
              </a:ext>
            </a:extLst>
          </p:cNvPr>
          <p:cNvSpPr txBox="1"/>
          <p:nvPr/>
        </p:nvSpPr>
        <p:spPr>
          <a:xfrm>
            <a:off x="6295631" y="3103826"/>
            <a:ext cx="627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AA</a:t>
            </a:r>
            <a:endParaRPr lang="ko-KR" altLang="en-US" sz="1000" b="1" dirty="0"/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014E3900-B9A8-BCFA-53B2-140500E7FF34}"/>
              </a:ext>
            </a:extLst>
          </p:cNvPr>
          <p:cNvSpPr/>
          <p:nvPr/>
        </p:nvSpPr>
        <p:spPr>
          <a:xfrm rot="11507178">
            <a:off x="6671628" y="2991244"/>
            <a:ext cx="273629" cy="289058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49E6A0-6561-CBC6-C4F2-EF527F5114B1}"/>
              </a:ext>
            </a:extLst>
          </p:cNvPr>
          <p:cNvSpPr txBox="1"/>
          <p:nvPr/>
        </p:nvSpPr>
        <p:spPr>
          <a:xfrm>
            <a:off x="6475078" y="3525680"/>
            <a:ext cx="6018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ATA</a:t>
            </a:r>
            <a:endParaRPr lang="ko-KR" altLang="en-US" sz="1000" b="1" dirty="0"/>
          </a:p>
        </p:txBody>
      </p:sp>
      <p:sp>
        <p:nvSpPr>
          <p:cNvPr id="51" name="원호 50">
            <a:extLst>
              <a:ext uri="{FF2B5EF4-FFF2-40B4-BE49-F238E27FC236}">
                <a16:creationId xmlns:a16="http://schemas.microsoft.com/office/drawing/2014/main" id="{6A6A85D4-CC2E-AC7C-601A-239662184E0A}"/>
              </a:ext>
            </a:extLst>
          </p:cNvPr>
          <p:cNvSpPr/>
          <p:nvPr/>
        </p:nvSpPr>
        <p:spPr>
          <a:xfrm rot="1098746">
            <a:off x="6238563" y="3644370"/>
            <a:ext cx="273629" cy="289058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BB2A1A-D571-7B20-6E53-87A7D362DE6E}"/>
              </a:ext>
            </a:extLst>
          </p:cNvPr>
          <p:cNvSpPr txBox="1"/>
          <p:nvPr/>
        </p:nvSpPr>
        <p:spPr>
          <a:xfrm>
            <a:off x="3495147" y="3781906"/>
            <a:ext cx="627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AA</a:t>
            </a:r>
            <a:endParaRPr lang="ko-KR" altLang="en-US" sz="1000" b="1" dirty="0"/>
          </a:p>
        </p:txBody>
      </p:sp>
      <p:sp>
        <p:nvSpPr>
          <p:cNvPr id="53" name="원호 52">
            <a:extLst>
              <a:ext uri="{FF2B5EF4-FFF2-40B4-BE49-F238E27FC236}">
                <a16:creationId xmlns:a16="http://schemas.microsoft.com/office/drawing/2014/main" id="{EA3098B1-21F8-21D9-3950-421D9587D46D}"/>
              </a:ext>
            </a:extLst>
          </p:cNvPr>
          <p:cNvSpPr/>
          <p:nvPr/>
        </p:nvSpPr>
        <p:spPr>
          <a:xfrm rot="9308940">
            <a:off x="3427814" y="3433218"/>
            <a:ext cx="433259" cy="315131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ADDC82B2-ECFD-0FA6-89B2-34D1622E4D65}"/>
              </a:ext>
            </a:extLst>
          </p:cNvPr>
          <p:cNvSpPr/>
          <p:nvPr/>
        </p:nvSpPr>
        <p:spPr>
          <a:xfrm rot="3252660">
            <a:off x="3431204" y="2922483"/>
            <a:ext cx="156337" cy="10308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이등변 삼각형 54">
            <a:extLst>
              <a:ext uri="{FF2B5EF4-FFF2-40B4-BE49-F238E27FC236}">
                <a16:creationId xmlns:a16="http://schemas.microsoft.com/office/drawing/2014/main" id="{92429B4B-C305-9248-D838-B01885D69F32}"/>
              </a:ext>
            </a:extLst>
          </p:cNvPr>
          <p:cNvSpPr/>
          <p:nvPr/>
        </p:nvSpPr>
        <p:spPr>
          <a:xfrm rot="7592393">
            <a:off x="4560498" y="4297692"/>
            <a:ext cx="156337" cy="10308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047DE6-01C7-70A9-95DF-142B483AACF4}"/>
              </a:ext>
            </a:extLst>
          </p:cNvPr>
          <p:cNvSpPr txBox="1"/>
          <p:nvPr/>
        </p:nvSpPr>
        <p:spPr>
          <a:xfrm>
            <a:off x="3364886" y="2720124"/>
            <a:ext cx="953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/>
              <a:t>기축선</a:t>
            </a:r>
            <a:r>
              <a:rPr lang="ko-KR" altLang="en-US" sz="800" b="1" dirty="0"/>
              <a:t> 방향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C13A6D-2CBE-2FD5-CB55-399E90177C58}"/>
              </a:ext>
            </a:extLst>
          </p:cNvPr>
          <p:cNvSpPr txBox="1"/>
          <p:nvPr/>
        </p:nvSpPr>
        <p:spPr>
          <a:xfrm>
            <a:off x="4249939" y="4461175"/>
            <a:ext cx="953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꼬리 방향</a:t>
            </a:r>
          </a:p>
        </p:txBody>
      </p:sp>
      <p:sp>
        <p:nvSpPr>
          <p:cNvPr id="58" name="이등변 삼각형 57">
            <a:extLst>
              <a:ext uri="{FF2B5EF4-FFF2-40B4-BE49-F238E27FC236}">
                <a16:creationId xmlns:a16="http://schemas.microsoft.com/office/drawing/2014/main" id="{6AD76433-2CCE-158B-A143-A4EC4F635800}"/>
              </a:ext>
            </a:extLst>
          </p:cNvPr>
          <p:cNvSpPr/>
          <p:nvPr/>
        </p:nvSpPr>
        <p:spPr>
          <a:xfrm rot="16200000">
            <a:off x="4993458" y="3037587"/>
            <a:ext cx="156337" cy="10308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1A8BDB-FA0F-7599-01BE-A2E08A00F1C8}"/>
              </a:ext>
            </a:extLst>
          </p:cNvPr>
          <p:cNvSpPr txBox="1"/>
          <p:nvPr/>
        </p:nvSpPr>
        <p:spPr>
          <a:xfrm>
            <a:off x="4712403" y="3141323"/>
            <a:ext cx="953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꼬리 방향</a:t>
            </a:r>
          </a:p>
        </p:txBody>
      </p:sp>
      <p:sp>
        <p:nvSpPr>
          <p:cNvPr id="60" name="이등변 삼각형 59">
            <a:extLst>
              <a:ext uri="{FF2B5EF4-FFF2-40B4-BE49-F238E27FC236}">
                <a16:creationId xmlns:a16="http://schemas.microsoft.com/office/drawing/2014/main" id="{313829CD-9344-826B-889E-4F6E9A0D0715}"/>
              </a:ext>
            </a:extLst>
          </p:cNvPr>
          <p:cNvSpPr/>
          <p:nvPr/>
        </p:nvSpPr>
        <p:spPr>
          <a:xfrm rot="3252660">
            <a:off x="8315190" y="2915686"/>
            <a:ext cx="156337" cy="10308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28C6AA-5C1C-7C0F-9E39-118F68328C56}"/>
              </a:ext>
            </a:extLst>
          </p:cNvPr>
          <p:cNvSpPr txBox="1"/>
          <p:nvPr/>
        </p:nvSpPr>
        <p:spPr>
          <a:xfrm>
            <a:off x="8109358" y="2713010"/>
            <a:ext cx="9533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/>
              <a:t>기축선</a:t>
            </a:r>
            <a:r>
              <a:rPr lang="ko-KR" altLang="en-US" sz="800" b="1" dirty="0"/>
              <a:t> 방향</a:t>
            </a:r>
          </a:p>
        </p:txBody>
      </p:sp>
      <p:sp>
        <p:nvSpPr>
          <p:cNvPr id="62" name="이등변 삼각형 61">
            <a:extLst>
              <a:ext uri="{FF2B5EF4-FFF2-40B4-BE49-F238E27FC236}">
                <a16:creationId xmlns:a16="http://schemas.microsoft.com/office/drawing/2014/main" id="{44F50FFD-CBAD-5296-0B9C-FBCEA30FD4C8}"/>
              </a:ext>
            </a:extLst>
          </p:cNvPr>
          <p:cNvSpPr/>
          <p:nvPr/>
        </p:nvSpPr>
        <p:spPr>
          <a:xfrm rot="18478847">
            <a:off x="2344264" y="2790697"/>
            <a:ext cx="156337" cy="10308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Google Shape;72;p7">
            <a:extLst>
              <a:ext uri="{FF2B5EF4-FFF2-40B4-BE49-F238E27FC236}">
                <a16:creationId xmlns:a16="http://schemas.microsoft.com/office/drawing/2014/main" id="{DF5246EE-41DB-2A26-B628-D045B1DD5364}"/>
              </a:ext>
            </a:extLst>
          </p:cNvPr>
          <p:cNvSpPr txBox="1">
            <a:spLocks/>
          </p:cNvSpPr>
          <p:nvPr/>
        </p:nvSpPr>
        <p:spPr>
          <a:xfrm>
            <a:off x="525695" y="4427342"/>
            <a:ext cx="4677600" cy="43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Aft>
                <a:spcPts val="1200"/>
              </a:spcAft>
              <a:buSzPct val="84615"/>
              <a:buFont typeface="Arial"/>
              <a:buNone/>
            </a:pPr>
            <a:r>
              <a:rPr lang="ko-KR" altLang="en-US" sz="800" b="1" dirty="0">
                <a:latin typeface="LG Smart UI Bold" panose="020B0800000101010101" pitchFamily="34" charset="-127"/>
                <a:ea typeface="LG Smart UI Bold" panose="020B0800000101010101" pitchFamily="34" charset="-127"/>
              </a:rPr>
              <a:t>예시 </a:t>
            </a:r>
            <a:r>
              <a:rPr lang="en-US" altLang="ko-KR" sz="800" b="1" dirty="0">
                <a:latin typeface="LG Smart UI Bold" panose="020B0800000101010101" pitchFamily="34" charset="-127"/>
                <a:ea typeface="LG Smart UI Bold" panose="020B0800000101010101" pitchFamily="34" charset="-127"/>
              </a:rPr>
              <a:t>1</a:t>
            </a:r>
            <a:endParaRPr lang="en-US" sz="800" b="1" dirty="0">
              <a:latin typeface="LG Smart UI Bold" panose="020B0800000101010101" pitchFamily="34" charset="-127"/>
              <a:ea typeface="LG Smart UI Bold" panose="020B0800000101010101" pitchFamily="34" charset="-127"/>
            </a:endParaRPr>
          </a:p>
        </p:txBody>
      </p:sp>
      <p:sp>
        <p:nvSpPr>
          <p:cNvPr id="65" name="Google Shape;72;p7">
            <a:extLst>
              <a:ext uri="{FF2B5EF4-FFF2-40B4-BE49-F238E27FC236}">
                <a16:creationId xmlns:a16="http://schemas.microsoft.com/office/drawing/2014/main" id="{85FDA8F8-8430-2D22-6E56-2F221961147B}"/>
              </a:ext>
            </a:extLst>
          </p:cNvPr>
          <p:cNvSpPr txBox="1">
            <a:spLocks/>
          </p:cNvSpPr>
          <p:nvPr/>
        </p:nvSpPr>
        <p:spPr>
          <a:xfrm>
            <a:off x="4385713" y="4440643"/>
            <a:ext cx="4677600" cy="43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Aft>
                <a:spcPts val="1200"/>
              </a:spcAft>
              <a:buSzPct val="84615"/>
              <a:buFont typeface="Arial"/>
              <a:buNone/>
            </a:pPr>
            <a:r>
              <a:rPr lang="ko-KR" altLang="en-US" sz="800" b="1" dirty="0">
                <a:latin typeface="LG Smart UI Bold" panose="020B0800000101010101" pitchFamily="34" charset="-127"/>
                <a:ea typeface="LG Smart UI Bold" panose="020B0800000101010101" pitchFamily="34" charset="-127"/>
              </a:rPr>
              <a:t>예시 </a:t>
            </a:r>
            <a:r>
              <a:rPr lang="en-US" altLang="ko-KR" sz="800" b="1" dirty="0">
                <a:latin typeface="LG Smart UI Bold" panose="020B0800000101010101" pitchFamily="34" charset="-127"/>
                <a:ea typeface="LG Smart UI Bold" panose="020B0800000101010101" pitchFamily="34" charset="-127"/>
              </a:rPr>
              <a:t>2</a:t>
            </a:r>
            <a:endParaRPr lang="en-US" sz="800" b="1" dirty="0">
              <a:latin typeface="LG Smart UI Bold" panose="020B0800000101010101" pitchFamily="34" charset="-127"/>
              <a:ea typeface="LG Smart UI Bold" panose="020B0800000101010101" pitchFamily="34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E4FC156-0B6A-E56E-182A-60AE087FDB10}"/>
              </a:ext>
            </a:extLst>
          </p:cNvPr>
          <p:cNvCxnSpPr>
            <a:cxnSpLocks/>
          </p:cNvCxnSpPr>
          <p:nvPr/>
        </p:nvCxnSpPr>
        <p:spPr>
          <a:xfrm>
            <a:off x="5203295" y="4190607"/>
            <a:ext cx="2982582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36275181-5A6F-3953-9C04-9DB29F013C73}"/>
              </a:ext>
            </a:extLst>
          </p:cNvPr>
          <p:cNvCxnSpPr>
            <a:cxnSpLocks/>
          </p:cNvCxnSpPr>
          <p:nvPr/>
        </p:nvCxnSpPr>
        <p:spPr>
          <a:xfrm>
            <a:off x="763299" y="4149278"/>
            <a:ext cx="396331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원호 70">
            <a:extLst>
              <a:ext uri="{FF2B5EF4-FFF2-40B4-BE49-F238E27FC236}">
                <a16:creationId xmlns:a16="http://schemas.microsoft.com/office/drawing/2014/main" id="{DA67F560-F2CF-E122-02E5-E2053C93468F}"/>
              </a:ext>
            </a:extLst>
          </p:cNvPr>
          <p:cNvSpPr/>
          <p:nvPr/>
        </p:nvSpPr>
        <p:spPr>
          <a:xfrm rot="1098746">
            <a:off x="6019091" y="3985733"/>
            <a:ext cx="273629" cy="289058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928B0B-A5E9-555E-09DD-F6C64BB743C5}"/>
              </a:ext>
            </a:extLst>
          </p:cNvPr>
          <p:cNvSpPr txBox="1"/>
          <p:nvPr/>
        </p:nvSpPr>
        <p:spPr>
          <a:xfrm>
            <a:off x="6244390" y="4012698"/>
            <a:ext cx="1417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Agent</a:t>
            </a:r>
            <a:r>
              <a:rPr lang="ko-KR" altLang="en-US" sz="800" b="1" dirty="0"/>
              <a:t>의 </a:t>
            </a:r>
            <a:r>
              <a:rPr lang="en-US" altLang="ko-KR" sz="800" b="1" dirty="0"/>
              <a:t>Heading</a:t>
            </a:r>
            <a:endParaRPr lang="ko-KR" altLang="en-US" sz="8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7028ED-2327-C389-C3AE-48BB244637CB}"/>
              </a:ext>
            </a:extLst>
          </p:cNvPr>
          <p:cNvSpPr txBox="1"/>
          <p:nvPr/>
        </p:nvSpPr>
        <p:spPr>
          <a:xfrm>
            <a:off x="4221067" y="3821168"/>
            <a:ext cx="11244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적의 </a:t>
            </a:r>
            <a:r>
              <a:rPr lang="en-US" altLang="ko-KR" sz="800" b="1" dirty="0"/>
              <a:t>Heading</a:t>
            </a:r>
            <a:endParaRPr lang="ko-KR" altLang="en-US" sz="800" b="1" dirty="0"/>
          </a:p>
        </p:txBody>
      </p:sp>
      <p:sp>
        <p:nvSpPr>
          <p:cNvPr id="74" name="원호 73">
            <a:extLst>
              <a:ext uri="{FF2B5EF4-FFF2-40B4-BE49-F238E27FC236}">
                <a16:creationId xmlns:a16="http://schemas.microsoft.com/office/drawing/2014/main" id="{8BB10A94-A799-D373-7540-F6CB2956DF16}"/>
              </a:ext>
            </a:extLst>
          </p:cNvPr>
          <p:cNvSpPr/>
          <p:nvPr/>
        </p:nvSpPr>
        <p:spPr>
          <a:xfrm>
            <a:off x="3974137" y="4013489"/>
            <a:ext cx="500347" cy="289058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71034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AEDCF5EB-5D65-B300-51D5-F6B460A2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D44A074F-1700-E5BE-7F65-888C86EC50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3.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환경 설계 </a:t>
            </a:r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수많은 시행착오를 통한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‘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가능성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＇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의 발견</a:t>
            </a:r>
            <a:endParaRPr sz="1700" b="0" dirty="0">
              <a:solidFill>
                <a:schemeClr val="accent1">
                  <a:lumMod val="50000"/>
                </a:schemeClr>
              </a:solidFill>
              <a:latin typeface="LG Smart UI Bold" panose="020B0800000101010101" pitchFamily="34" charset="-127"/>
              <a:ea typeface="LG Smart UI Bold" panose="020B08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A960D589-08A3-F235-531F-B423B5B96B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693853"/>
            <a:ext cx="8512800" cy="4410255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초기 가설 및 접근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이상적인 </a:t>
            </a:r>
            <a:r>
              <a:rPr lang="en-US" altLang="ko-KR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ATA, AA </a:t>
            </a: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각도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와 적기에 </a:t>
            </a: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추격</a:t>
            </a:r>
            <a:r>
              <a:rPr lang="en-US" altLang="ko-KR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(Pursuit) </a:t>
            </a: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로직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을 적용하면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Agent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생존을 위해 수많은 시행착오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(Step)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겪으며 스스로 이상적인 추격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및 회피기동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로직을 찾아낼 것이라 기대함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	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이상적인 설정 값과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＂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강한 적을 상대로 학습해야 더 강한 에이전트가 나온다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＂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는 전제로 접근</a:t>
            </a:r>
            <a:br>
              <a:rPr lang="en-US" altLang="ko-KR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b="1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실패 사례 분석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현상</a:t>
            </a:r>
            <a:r>
              <a:rPr lang="en-US" altLang="ko-KR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Agent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유의미한 행동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회피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/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반격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을 시도해 보기도 전에 적기에게 즉시 격추당함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결과</a:t>
            </a:r>
            <a:r>
              <a:rPr lang="en-US" altLang="ko-KR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보상을 전혀 획득하지 못하는 </a:t>
            </a: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불능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상태가 지속됨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추가 시도</a:t>
            </a:r>
            <a:r>
              <a:rPr lang="en-US" altLang="ko-KR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Agent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ATA, AA,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체력 등 다른 설정 값을 유리하게 조정해 보았으나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적기의 완벽한 추격 로직 앞에서는 무용지물이었음</a:t>
            </a:r>
            <a:br>
              <a:rPr lang="en-US" altLang="ko-KR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핵심 인사이트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Tx/>
              <a:buChar char="-"/>
            </a:pPr>
            <a:r>
              <a:rPr lang="en-US" altLang="ko-KR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"</a:t>
            </a: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어려운 환경이 능사가 아니다</a:t>
            </a:r>
            <a:r>
              <a:rPr lang="en-US" altLang="ko-KR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.“</a:t>
            </a:r>
          </a:p>
          <a:p>
            <a:pPr marL="742950" lvl="1" indent="-285750">
              <a:lnSpc>
                <a:spcPct val="100000"/>
              </a:lnSpc>
              <a:spcBef>
                <a:spcPts val="800"/>
              </a:spcBef>
              <a:buFontTx/>
              <a:buChar char="-"/>
            </a:pP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물리적으로 극복 불가능한 상황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(Physical Impossibility)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에서는 학습이 일어나지 않음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환경 설계의 중요성</a:t>
            </a:r>
            <a:r>
              <a:rPr lang="en-US" altLang="ko-KR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</a:t>
            </a: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Agent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행동과 결과 사이의 </a:t>
            </a: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인과관계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파악할 수 있도록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'</a:t>
            </a: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최소한의 생존 및 반격 기회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'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보장하는 환경 설계가 선행되어야 함을 규명함</a:t>
            </a:r>
            <a:endParaRPr lang="en-US" altLang="ko-KR" sz="14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sz="1600" b="1" dirty="0">
              <a:solidFill>
                <a:schemeClr val="tx1"/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8945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9A7B8D6E-F0AF-DE65-0EA6-3DAABC9C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1BDF4ABF-122C-6ADD-1F5A-B66A0FA266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3.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환경 설계 </a:t>
            </a:r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다차원 변수 최적화를 통한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Baseline 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환경 구축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69A6A6DA-B387-CC93-4780-C496E51E9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847874"/>
            <a:ext cx="8512800" cy="4111584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77500" lnSpcReduction="20000"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1.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성패를 결정짓는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3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대 요소와 복합적인 상호작용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복합적 인과관계</a:t>
            </a:r>
            <a:endParaRPr lang="en-US" altLang="ko-KR" sz="16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‘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게임 규칙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’, ‘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‘, ‘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보상 체계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’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는 독립적이지 않고 유기적으로 연결되어 성능을 결정함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예시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보상이 완벽해도 적의 난이도가 높으면 학습이 불가능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난이도가 적절해도 보상 설계가 잘못되면 이상 행동 발생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b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2.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환경 최적화를 위한 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3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대 고려 사항</a:t>
            </a:r>
            <a:endParaRPr lang="en-US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지수적으로 많은 변수 조합 속에서 최적의 설정을 찾기 위해 다음 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3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가지 기준을 적용</a:t>
            </a:r>
            <a:endParaRPr lang="en-US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가능성 </a:t>
            </a:r>
            <a:r>
              <a:rPr lang="en-US" altLang="ko-KR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(Learnability)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에이전트가 포기하지 않고 인과관계를 학습할 수 있는가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?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실험 가능성 </a:t>
            </a:r>
            <a:r>
              <a:rPr lang="en-US" altLang="ko-KR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(Feasibility)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제한된 자원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(Time, Step) 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내에서 수렴 가능한가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? (CPU 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사용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변별력 </a:t>
            </a:r>
            <a:r>
              <a:rPr lang="en-US" altLang="ko-KR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(Discriminative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Power)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알고리즘 및 주요 변수 변화에 따른 성능 차이를 명확히 구분할 수 있는가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?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3.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가능 영역 탐색 및 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Baseline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확립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반복적인 실험</a:t>
            </a:r>
            <a:endParaRPr lang="en-US" altLang="ko-KR" sz="16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위 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3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가지 기준을 충족하는 변수 조합을 찾기 위해 파라미터 튜닝을 반복하여 에이전트가 유의미한 성장을 보이는 지점 탐색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표준화</a:t>
            </a:r>
            <a:endParaRPr lang="en-US" altLang="ko-KR" sz="16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단순한 추측이 아닌 데이터 기반 검증을 통해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표준 시뮬레이션 규칙 및 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Baseline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환경을 최종 확립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sz="1600" b="1" dirty="0">
              <a:solidFill>
                <a:schemeClr val="tx1"/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175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E46115D1-E3B2-77CA-8FB9-3A99AF21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51DEC36F-9E06-D4D1-3BF2-F4C63B5A3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4.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강화학습 설계 </a:t>
            </a:r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State, Action</a:t>
            </a:r>
            <a:r>
              <a:rPr lang="ko-KR" altLang="en-US" sz="18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E36CC3A2-3FD0-3021-207B-642BA3844A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084" y="762864"/>
            <a:ext cx="8512800" cy="316192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1. State (8-dim Observation)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에이전트가 상황을 판단하기 위해 필요한 최소한의 필수 정보만을 선별하여 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8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차원 벡터로 구성함</a:t>
            </a:r>
            <a:endParaRPr lang="en-US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Agnet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정보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x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좌표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y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좌표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Heading(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기수 방향 각도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), HP(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체력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적의 정보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x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좌표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y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좌표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Heading(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기수 방향 각도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), HP(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체력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2. Action Space (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Continous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 Control)</a:t>
            </a:r>
            <a:endParaRPr lang="en-US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altLang="ko-KR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Type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Box(-1.0, 1.0) (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연속적인 </a:t>
            </a:r>
            <a:r>
              <a:rPr lang="ko-KR" altLang="en-US" sz="16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실수값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제어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altLang="ko-KR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Action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600" b="1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선회율</a:t>
            </a:r>
            <a:r>
              <a:rPr lang="en-US" altLang="ko-KR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en-US" altLang="ko-KR" sz="1600" b="1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Trun</a:t>
            </a: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Rate)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을 제어하여 비행 궤적을 결정</a:t>
            </a:r>
            <a:endParaRPr lang="en-US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-1.0: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최대 </a:t>
            </a:r>
            <a:r>
              <a:rPr lang="ko-KR" altLang="en-US" sz="14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좌선회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+1.0: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최대 </a:t>
            </a:r>
            <a:r>
              <a:rPr lang="ko-KR" altLang="en-US" sz="14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우선회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0.0: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직진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sz="1600" b="1" dirty="0">
              <a:solidFill>
                <a:schemeClr val="tx1"/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pic>
        <p:nvPicPr>
          <p:cNvPr id="2" name="그래픽 1" descr="비행기 윤곽선">
            <a:extLst>
              <a:ext uri="{FF2B5EF4-FFF2-40B4-BE49-F238E27FC236}">
                <a16:creationId xmlns:a16="http://schemas.microsoft.com/office/drawing/2014/main" id="{D3DA7ED9-02B0-59DA-6CCC-D1B970786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247540">
            <a:off x="1888679" y="4253984"/>
            <a:ext cx="914400" cy="914400"/>
          </a:xfrm>
          <a:prstGeom prst="rect">
            <a:avLst/>
          </a:prstGeom>
        </p:spPr>
      </p:pic>
      <p:pic>
        <p:nvPicPr>
          <p:cNvPr id="3" name="그래픽 2" descr="비행기 단색으로 채워진">
            <a:extLst>
              <a:ext uri="{FF2B5EF4-FFF2-40B4-BE49-F238E27FC236}">
                <a16:creationId xmlns:a16="http://schemas.microsoft.com/office/drawing/2014/main" id="{E3F41FAD-8A49-8C9D-01CF-6EA3B79C09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066447" y="3466236"/>
            <a:ext cx="914400" cy="914400"/>
          </a:xfrm>
          <a:prstGeom prst="rect">
            <a:avLst/>
          </a:prstGeom>
        </p:spPr>
      </p:pic>
      <p:pic>
        <p:nvPicPr>
          <p:cNvPr id="7" name="그래픽 6" descr="신경 윤곽선">
            <a:extLst>
              <a:ext uri="{FF2B5EF4-FFF2-40B4-BE49-F238E27FC236}">
                <a16:creationId xmlns:a16="http://schemas.microsoft.com/office/drawing/2014/main" id="{46BA0AE8-7C92-134E-6F0C-0815369F43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40136" y="3993795"/>
            <a:ext cx="536876" cy="536876"/>
          </a:xfrm>
          <a:prstGeom prst="rect">
            <a:avLst/>
          </a:prstGeom>
        </p:spPr>
      </p:pic>
      <p:pic>
        <p:nvPicPr>
          <p:cNvPr id="9" name="그래픽 8" descr="모니터 윤곽선">
            <a:extLst>
              <a:ext uri="{FF2B5EF4-FFF2-40B4-BE49-F238E27FC236}">
                <a16:creationId xmlns:a16="http://schemas.microsoft.com/office/drawing/2014/main" id="{0540B29A-6A5A-19D8-36D8-9285AB607F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14955" y="3344207"/>
            <a:ext cx="1930383" cy="1930383"/>
          </a:xfrm>
          <a:prstGeom prst="rect">
            <a:avLst/>
          </a:prstGeom>
        </p:spPr>
      </p:pic>
      <p:pic>
        <p:nvPicPr>
          <p:cNvPr id="11" name="그래픽 10" descr="정규 분포 단색으로 채워진">
            <a:extLst>
              <a:ext uri="{FF2B5EF4-FFF2-40B4-BE49-F238E27FC236}">
                <a16:creationId xmlns:a16="http://schemas.microsoft.com/office/drawing/2014/main" id="{A0617AF5-A23B-9BE4-D22F-1406BB9311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77012" y="3882525"/>
            <a:ext cx="725638" cy="725638"/>
          </a:xfrm>
          <a:prstGeom prst="rect">
            <a:avLst/>
          </a:prstGeom>
        </p:spPr>
      </p:pic>
      <p:pic>
        <p:nvPicPr>
          <p:cNvPr id="13" name="그래픽 12" descr="오른쪽 화살표 단색으로 채워진">
            <a:extLst>
              <a:ext uri="{FF2B5EF4-FFF2-40B4-BE49-F238E27FC236}">
                <a16:creationId xmlns:a16="http://schemas.microsoft.com/office/drawing/2014/main" id="{BAF4B977-2178-B451-74BE-5634646991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60004" y="3915986"/>
            <a:ext cx="700975" cy="700975"/>
          </a:xfrm>
          <a:prstGeom prst="rect">
            <a:avLst/>
          </a:prstGeom>
        </p:spPr>
      </p:pic>
      <p:pic>
        <p:nvPicPr>
          <p:cNvPr id="14" name="그래픽 13" descr="오른쪽 화살표 단색으로 채워진">
            <a:extLst>
              <a:ext uri="{FF2B5EF4-FFF2-40B4-BE49-F238E27FC236}">
                <a16:creationId xmlns:a16="http://schemas.microsoft.com/office/drawing/2014/main" id="{E2663994-8001-FCB9-28AF-77234CD25B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85604" y="3954167"/>
            <a:ext cx="614685" cy="6146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1B9355F-DA4C-5AAC-A36C-FA322A860F19}"/>
              </a:ext>
            </a:extLst>
          </p:cNvPr>
          <p:cNvSpPr txBox="1"/>
          <p:nvPr/>
        </p:nvSpPr>
        <p:spPr>
          <a:xfrm>
            <a:off x="6596929" y="4079653"/>
            <a:ext cx="4582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Action: Box(-1.0, 1.0) 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D258B3-83D3-3DC7-1692-51614C0BC7FA}"/>
              </a:ext>
            </a:extLst>
          </p:cNvPr>
          <p:cNvSpPr txBox="1"/>
          <p:nvPr/>
        </p:nvSpPr>
        <p:spPr>
          <a:xfrm>
            <a:off x="2980847" y="3588385"/>
            <a:ext cx="4582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agent.x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en-US" altLang="ko-KR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agent.y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agent.heading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agent.health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A7F58-5752-C63B-0D8F-13DEFEC6A96A}"/>
              </a:ext>
            </a:extLst>
          </p:cNvPr>
          <p:cNvSpPr txBox="1"/>
          <p:nvPr/>
        </p:nvSpPr>
        <p:spPr>
          <a:xfrm>
            <a:off x="2920990" y="4386561"/>
            <a:ext cx="45823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enemy.x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en-US" altLang="ko-KR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enemy.y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enemy.heading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en-US" altLang="ko-KR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enemy.health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97786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AD3F147F-56AC-C709-986D-2A67D326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A41CD6F0-ABF2-F5AE-EF25-DA006ED697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4.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강화학습 설계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</a:t>
            </a:r>
            <a:r>
              <a:rPr lang="en-US" altLang="ko-KR" sz="3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Reward Shaping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9878EA0D-1414-1727-153F-EA7E29569A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4582" y="720019"/>
            <a:ext cx="8512800" cy="3703461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1.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보상 함수 구성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에이전트가 전술적 </a:t>
            </a:r>
            <a:r>
              <a:rPr lang="ko-KR" altLang="en-US" sz="16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우외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점유 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공격 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격추의 과정을 학습할 수 있도록 </a:t>
            </a:r>
            <a:r>
              <a:rPr lang="en-US" altLang="ko-KR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4</a:t>
            </a:r>
            <a:r>
              <a:rPr lang="ko-KR" altLang="en-US" sz="16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가지 카테고리로 보상을 세분화</a:t>
            </a:r>
            <a:endParaRPr lang="en-US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전술 기동 유도</a:t>
            </a:r>
            <a:endParaRPr lang="en-US" altLang="ko-KR" sz="16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b="1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R_position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적의 꼬리를 점유하고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기수를 적에게 향할 때 보상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b="1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R_closure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유효 사거리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(30~100)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내로 접근 시 보상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충돌 위험 거리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(&lt;30)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진입 시 </a:t>
            </a:r>
            <a:r>
              <a:rPr lang="ko-KR" altLang="en-US" sz="14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패널티</a:t>
            </a:r>
            <a:b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핵심 행동</a:t>
            </a:r>
            <a:endParaRPr lang="en-US" altLang="ko-KR" sz="16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b="1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R_gunsnap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조준선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(Lock-on)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안에 적을 포착하고 유지하는 행동에 보상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반대로 당할 때는 </a:t>
            </a:r>
            <a:r>
              <a:rPr lang="ko-KR" altLang="en-US" sz="14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패널티</a:t>
            </a:r>
            <a:b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최종 목표</a:t>
            </a:r>
            <a:endParaRPr lang="en-US" altLang="ko-KR" sz="16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b="1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R_win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/</a:t>
            </a:r>
            <a:r>
              <a:rPr lang="en-US" altLang="ko-KR" sz="1400" b="1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R_lose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적기 격추 시 큰 보상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Agent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격추 당할 시 </a:t>
            </a:r>
            <a:r>
              <a:rPr lang="ko-KR" altLang="en-US" sz="14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패널티</a:t>
            </a:r>
            <a:b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안전 장치</a:t>
            </a:r>
            <a:endParaRPr lang="en-US" altLang="ko-KR" sz="16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b="1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R_crush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/R_boundary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적기 충돌 또는 맵 이탈 시 강력한 </a:t>
            </a:r>
            <a:r>
              <a:rPr lang="ko-KR" altLang="en-US" sz="14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패널티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endParaRPr lang="en-US" altLang="ko-KR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sz="1600" b="1" dirty="0">
              <a:solidFill>
                <a:schemeClr val="tx1"/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96F06F-26C3-FD6A-C2E6-C6C5611EE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651" y="4423480"/>
            <a:ext cx="4857573" cy="50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46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7486FBB5-8734-2303-6BAF-0E0338411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8FE46F35-93A3-7A36-855C-0122FB562F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4.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강화학습 설계 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</a:t>
            </a:r>
            <a:r>
              <a:rPr lang="en-US" altLang="ko-KR" sz="3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 </a:t>
            </a:r>
            <a:r>
              <a:rPr lang="en-US" altLang="ko-KR" sz="18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Reward Shaping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BC72E899-0EE8-521E-5FCC-180916E0E5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847874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시행착오 및 정교한 계산 기반 최적화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ko-KR" altLang="en-US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초기 설계에서 발생한 이상 행동을 교정하기 위해 수많은 시뮬레이션을 거쳐 보상 밸런스를 최적화함</a:t>
            </a:r>
            <a:endParaRPr lang="en-US" altLang="ko-KR" sz="15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5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자살 에이전트 문제 해결</a:t>
            </a:r>
            <a:endParaRPr lang="en-US" altLang="ko-KR" sz="15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3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문제</a:t>
            </a:r>
            <a:r>
              <a:rPr lang="en-US" altLang="ko-KR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초기에는 이탈 </a:t>
            </a:r>
            <a:r>
              <a:rPr lang="ko-KR" altLang="en-US" sz="13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패널티가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피격 누적 고통과 비슷하여</a:t>
            </a:r>
            <a:r>
              <a:rPr lang="en-US" altLang="ko-KR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에이전트가 고통을 피하기 위해 시뮬레이션이 시작되거나 피격이 시작될 때 바로 </a:t>
            </a:r>
            <a:r>
              <a:rPr lang="ko-KR" altLang="en-US" sz="13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맵을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이탈하는 최적해를 찾음</a:t>
            </a:r>
            <a:endParaRPr lang="en-US" altLang="ko-KR" sz="13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3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해결</a:t>
            </a:r>
            <a:r>
              <a:rPr lang="en-US" altLang="ko-KR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이탈</a:t>
            </a:r>
            <a:r>
              <a:rPr lang="en-US" altLang="ko-KR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(-110) &lt; 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피격 누적</a:t>
            </a:r>
            <a:r>
              <a:rPr lang="en-US" altLang="ko-KR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(-50) + 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격추</a:t>
            </a:r>
            <a:r>
              <a:rPr lang="en-US" altLang="ko-KR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(-50) 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부등식이 성립하도록 </a:t>
            </a:r>
            <a:r>
              <a:rPr lang="ko-KR" altLang="en-US" sz="13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패널티를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재설계하여</a:t>
            </a:r>
            <a:r>
              <a:rPr lang="en-US" altLang="ko-KR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아무리 불리해도 끝까지 생존하여 싸우는 것이 수학적으로 이득임을 학습시킴</a:t>
            </a:r>
            <a:b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행동 유도 강화</a:t>
            </a:r>
            <a:endParaRPr lang="en-US" altLang="ko-KR" sz="1600" b="1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문제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초기에는 </a:t>
            </a:r>
            <a:r>
              <a:rPr lang="en-US" altLang="ko-KR" sz="1400" dirty="0" err="1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R_position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가중치가 낮아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에이전트가 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‘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적의 뒤를 잡는 것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＇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전략적 중요성을 인지하지 못하고 공격 기회를 만들지 못함</a:t>
            </a:r>
            <a:endParaRPr lang="en-US" altLang="ko-KR" sz="14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해결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위치 점유 보상의 가중치를 대폭 상향하여</a:t>
            </a:r>
            <a:r>
              <a:rPr lang="en-US" altLang="ko-KR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Positioning</a:t>
            </a:r>
            <a:r>
              <a:rPr lang="ko-KR" altLang="en-US" sz="14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을 우선적으로 학습하도록 유도</a:t>
            </a:r>
            <a:br>
              <a:rPr lang="en-US" altLang="ko-KR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6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안정성 확보</a:t>
            </a:r>
            <a:endParaRPr lang="en-US" altLang="ko-KR" sz="1600" b="1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3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해결</a:t>
            </a:r>
            <a:r>
              <a:rPr lang="en-US" altLang="ko-KR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보상 값의 절댓값이 너무 커서 발생하는 신경망 발산 문제를 방지하기 위해</a:t>
            </a:r>
            <a:r>
              <a:rPr lang="en-US" altLang="ko-KR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최종 리워드에 </a:t>
            </a:r>
            <a:r>
              <a:rPr lang="en-US" altLang="ko-KR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0.1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스케일링을 적용하여 학습 수렴 속도를 개선</a:t>
            </a:r>
            <a:endParaRPr lang="en-US" altLang="ko-KR" sz="13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sz="1600" b="1" dirty="0">
              <a:solidFill>
                <a:schemeClr val="tx1"/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ko-KR" sz="16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76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46914E08-A897-4ADA-C269-A3DFFC4E7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14DBF751-601A-F9F4-03EC-BE106CD1F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5.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강화학습 알고리즘 선정 및 </a:t>
            </a:r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Hyperparameter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설정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F87DEE8D-1506-9104-D1E2-904D887DC5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847874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1.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최종 알고리즘 선정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SAC (Soft Actor-Critic)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ko-KR" altLang="en-US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연속</a:t>
            </a:r>
            <a:r>
              <a:rPr lang="en-US" altLang="ko-KR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제어 환경인 공중전 시뮬레이션에 적합한 알고리즘을 선정하기 위해</a:t>
            </a:r>
            <a:r>
              <a:rPr lang="en-US" altLang="ko-KR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On-policy </a:t>
            </a:r>
            <a:r>
              <a:rPr lang="ko-KR" altLang="en-US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알고리즘인 </a:t>
            </a:r>
            <a:r>
              <a:rPr lang="en-US" altLang="ko-KR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PPO</a:t>
            </a:r>
            <a:r>
              <a:rPr lang="ko-KR" altLang="en-US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와 </a:t>
            </a:r>
            <a:r>
              <a:rPr lang="en-US" altLang="ko-KR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Off-policy </a:t>
            </a:r>
            <a:r>
              <a:rPr lang="ko-KR" altLang="en-US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알고리즘인 </a:t>
            </a:r>
            <a:r>
              <a:rPr lang="en-US" altLang="ko-KR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SAC</a:t>
            </a:r>
            <a:r>
              <a:rPr lang="ko-KR" altLang="en-US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비교 분석</a:t>
            </a:r>
            <a:br>
              <a:rPr lang="en-US" altLang="ko-KR" sz="15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5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선정 근거</a:t>
            </a:r>
            <a:r>
              <a:rPr lang="en-US" altLang="ko-KR" sz="15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(</a:t>
            </a:r>
            <a:r>
              <a:rPr lang="ko-KR" altLang="en-US" sz="15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실험 결과 참고</a:t>
            </a:r>
            <a:r>
              <a:rPr lang="en-US" altLang="ko-KR" sz="15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)</a:t>
            </a:r>
            <a:r>
              <a:rPr lang="ko-KR" altLang="en-US" sz="15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</a:t>
            </a:r>
            <a:endParaRPr lang="en-US" altLang="ko-KR" sz="15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3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Sample Efficiency (</a:t>
            </a:r>
            <a:r>
              <a:rPr lang="ko-KR" altLang="en-US" sz="13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샘플 효율성</a:t>
            </a:r>
            <a:r>
              <a:rPr lang="en-US" altLang="ko-KR" sz="13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  <a:r>
              <a:rPr lang="ko-KR" altLang="en-US" sz="13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endParaRPr lang="en-US" altLang="ko-KR" sz="13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200150" lvl="2" indent="-285750">
              <a:lnSpc>
                <a:spcPct val="100000"/>
              </a:lnSpc>
              <a:buFontTx/>
              <a:buChar char="-"/>
            </a:pPr>
            <a:r>
              <a:rPr lang="en-US" altLang="ko-KR" sz="11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PPO</a:t>
            </a:r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데이터를 일회성으로 소비하고 폐기하므로</a:t>
            </a:r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Sparse Reward </a:t>
            </a: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환경에서 학습 속도가 느림</a:t>
            </a:r>
            <a:endParaRPr lang="en-US" altLang="ko-KR" sz="11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200150" lvl="2" indent="-285750">
              <a:lnSpc>
                <a:spcPct val="100000"/>
              </a:lnSpc>
              <a:buFontTx/>
              <a:buChar char="-"/>
            </a:pPr>
            <a:r>
              <a:rPr lang="en-US" altLang="ko-KR" sz="11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SAC</a:t>
            </a:r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Replay Buffer</a:t>
            </a: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통해 과거의 성공적이 격추 경험을 반복 학습하므로</a:t>
            </a:r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데이터가 귀한 공중전 환경에서 매우 유리</a:t>
            </a:r>
            <a:b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Exploration (</a:t>
            </a:r>
            <a:r>
              <a:rPr lang="ko-KR" altLang="en-US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탐험</a:t>
            </a:r>
            <a:r>
              <a:rPr lang="en-US" altLang="ko-KR" sz="14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1200150" lvl="2" indent="-2857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SAC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최대 엔트로피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통해 에이전트가 고정된 패턴에 갇히지 않고 다양한 회피 및 공격 기동을 시도하도록 유도하여 로컬 최적해 탈출에 유리함</a:t>
            </a:r>
            <a:endParaRPr lang="en-US" altLang="ko-KR" sz="11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4846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9AE427BD-1BA6-B63F-972D-17641290A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BDA4D40B-A8BF-66E1-D777-B0872195B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5.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강화학습 알고리즘 선정 및 </a:t>
            </a:r>
            <a:r>
              <a:rPr lang="en-US" altLang="ko-KR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Hyperparameter </a:t>
            </a:r>
            <a:r>
              <a:rPr lang="ko-KR" altLang="en-US" sz="220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설정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7651201B-119C-039B-E094-C60C968C4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250" y="847874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Hyperparameter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설정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EF1D919-A6DC-1F73-D6C0-388F6240A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615501"/>
              </p:ext>
            </p:extLst>
          </p:nvPr>
        </p:nvGraphicFramePr>
        <p:xfrm>
          <a:off x="585943" y="1320068"/>
          <a:ext cx="5577216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9072">
                  <a:extLst>
                    <a:ext uri="{9D8B030D-6E8A-4147-A177-3AD203B41FA5}">
                      <a16:colId xmlns:a16="http://schemas.microsoft.com/office/drawing/2014/main" val="1185571721"/>
                    </a:ext>
                  </a:extLst>
                </a:gridCol>
                <a:gridCol w="2180057">
                  <a:extLst>
                    <a:ext uri="{9D8B030D-6E8A-4147-A177-3AD203B41FA5}">
                      <a16:colId xmlns:a16="http://schemas.microsoft.com/office/drawing/2014/main" val="2683654843"/>
                    </a:ext>
                  </a:extLst>
                </a:gridCol>
                <a:gridCol w="1538087">
                  <a:extLst>
                    <a:ext uri="{9D8B030D-6E8A-4147-A177-3AD203B41FA5}">
                      <a16:colId xmlns:a16="http://schemas.microsoft.com/office/drawing/2014/main" val="2310000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Parameter</a:t>
                      </a:r>
                      <a:endParaRPr lang="ko-KR" altLang="en-US" sz="12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Value</a:t>
                      </a:r>
                      <a:endParaRPr lang="ko-KR" altLang="en-US" sz="12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비교 실험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814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Algorithm</a:t>
                      </a:r>
                      <a:endParaRPr lang="ko-KR" altLang="en-US" sz="12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PPO / SAC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O 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59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Network Arch</a:t>
                      </a:r>
                      <a:endParaRPr lang="ko-KR" altLang="en-US" sz="12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[64, 64], [128, 128], [256, 256]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O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417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Seed (Training)</a:t>
                      </a:r>
                      <a:endParaRPr lang="ko-KR" altLang="en-US" sz="12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1, 2, 3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O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219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Step</a:t>
                      </a:r>
                      <a:endParaRPr lang="ko-KR" altLang="en-US" sz="12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2000000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고정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002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Learning Rate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3e-4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고정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18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Batch Size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256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고정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065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Buffer Size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1000000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고정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8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Gamma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0.99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고정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259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Tau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0.005</a:t>
                      </a:r>
                      <a:endParaRPr lang="ko-KR" altLang="en-US" sz="12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고정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521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019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5BAF1FFB-F482-C592-641D-6FE78B60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15968C92-AC0B-2052-586B-66582057B5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6.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셋업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20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환경</a:t>
            </a:r>
            <a:endParaRPr sz="20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645CA603-3A60-82D2-FCCE-73D5FA9B88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842708"/>
            <a:ext cx="9262820" cy="4183909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1. Multi-Processing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SubprocVecEnv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활용하여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개의 환경을 병렬 구동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데이터 수집을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배 향상시켜 실험 효율성을 극대화함 </a:t>
            </a: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한정된 자원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CPU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로 최소한의 시간으로 최대한 많은 실험을 하기 위한 세팅</a:t>
            </a:r>
            <a:b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3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 정의 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자세한 수치는 다음 페이지 표 참고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EASY / HARD </a:t>
            </a:r>
            <a:r>
              <a:rPr lang="ko-KR" altLang="en-US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의미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3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절대적인 기준이 아니라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수많은 시뮬레이션을 통해 찾아낸 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‘</a:t>
            </a:r>
            <a:r>
              <a:rPr lang="ko-KR" altLang="en-US" sz="13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가능한 범위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‘ </a:t>
            </a:r>
            <a:r>
              <a:rPr lang="ko-KR" altLang="en-US" sz="13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내에서의 상대적인 수준</a:t>
            </a:r>
            <a:r>
              <a:rPr lang="ko-KR" altLang="en-US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을 의미함</a:t>
            </a:r>
            <a:endParaRPr lang="en-US" altLang="ko-KR" sz="13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EASY </a:t>
            </a:r>
            <a:r>
              <a:rPr lang="ko-KR" altLang="en-US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특징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기초 기동 학습을 위한 설계로 적보다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Lock-On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각도가 크며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90%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확률로 적의 뒤에서 에피소드를 시작한다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 </a:t>
            </a:r>
            <a:r>
              <a:rPr lang="ko-KR" altLang="en-US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특징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적과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Lock-On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각도가 같으며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EASY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보다는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Agent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더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RANDOM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한 위치에서 시작한다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또한 적은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EASY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보다 높은 확률로 고급 기동 전략을 선보인다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  <a:b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RANDOM 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특징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100%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확률로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Random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위치에서 에피소드를 시작하며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Agent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와 같은 선회율을 갖고 고급 기동 전략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추격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+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회피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을 선보인다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Curriculum_V1 / Curriculum_V2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의미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적의 난이도가 선형보간 방식으로 점차 올라가서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수준까지 올라감</a:t>
            </a: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Curriculum_V1 </a:t>
            </a:r>
            <a:r>
              <a:rPr lang="ko-KR" altLang="en-US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특징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200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만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step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기준으로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0~100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만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step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까지 선형보간 방식으로 적의 난이도가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EASY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에서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로 올라간다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 </a:t>
            </a:r>
            <a:r>
              <a:rPr lang="ko-KR" altLang="en-US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특징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V1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실험 이후에 난이도 변화에 따른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Agent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혼란을 막고자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EASY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보다 조금 더 어려운 난이도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앞으로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NORMAL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로 칭함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에서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도달하게끔 하였다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1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2493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138995F5-A5DC-D486-388D-FA8B10B2C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AFEE8D6F-2D4A-1252-6542-316C1C58E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6.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셋업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20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환경</a:t>
            </a: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A239C083-3DDF-2713-96EE-C756F94306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749" y="889107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3.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적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(Enemy)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 설정</a:t>
            </a:r>
            <a:endParaRPr lang="en-US" altLang="ko-KR" sz="14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 비교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EASY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&lt;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Curriculum_V1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&lt;&lt;&lt;&lt;&lt;&lt;&lt;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RANDOM</a:t>
            </a:r>
            <a:b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1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98878F9-98DB-0F5B-0FA8-00BAD91F6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427912"/>
              </p:ext>
            </p:extLst>
          </p:nvPr>
        </p:nvGraphicFramePr>
        <p:xfrm>
          <a:off x="214582" y="2069440"/>
          <a:ext cx="7296685" cy="27184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4537">
                  <a:extLst>
                    <a:ext uri="{9D8B030D-6E8A-4147-A177-3AD203B41FA5}">
                      <a16:colId xmlns:a16="http://schemas.microsoft.com/office/drawing/2014/main" val="3125161896"/>
                    </a:ext>
                  </a:extLst>
                </a:gridCol>
                <a:gridCol w="1151081">
                  <a:extLst>
                    <a:ext uri="{9D8B030D-6E8A-4147-A177-3AD203B41FA5}">
                      <a16:colId xmlns:a16="http://schemas.microsoft.com/office/drawing/2014/main" val="195538635"/>
                    </a:ext>
                  </a:extLst>
                </a:gridCol>
                <a:gridCol w="1223433">
                  <a:extLst>
                    <a:ext uri="{9D8B030D-6E8A-4147-A177-3AD203B41FA5}">
                      <a16:colId xmlns:a16="http://schemas.microsoft.com/office/drawing/2014/main" val="2003261203"/>
                    </a:ext>
                  </a:extLst>
                </a:gridCol>
                <a:gridCol w="1164167">
                  <a:extLst>
                    <a:ext uri="{9D8B030D-6E8A-4147-A177-3AD203B41FA5}">
                      <a16:colId xmlns:a16="http://schemas.microsoft.com/office/drawing/2014/main" val="2513554873"/>
                    </a:ext>
                  </a:extLst>
                </a:gridCol>
                <a:gridCol w="1159933">
                  <a:extLst>
                    <a:ext uri="{9D8B030D-6E8A-4147-A177-3AD203B41FA5}">
                      <a16:colId xmlns:a16="http://schemas.microsoft.com/office/drawing/2014/main" val="1035376961"/>
                    </a:ext>
                  </a:extLst>
                </a:gridCol>
                <a:gridCol w="1093534">
                  <a:extLst>
                    <a:ext uri="{9D8B030D-6E8A-4147-A177-3AD203B41FA5}">
                      <a16:colId xmlns:a16="http://schemas.microsoft.com/office/drawing/2014/main" val="557815473"/>
                    </a:ext>
                  </a:extLst>
                </a:gridCol>
              </a:tblGrid>
              <a:tr h="400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Parameter \ </a:t>
                      </a:r>
                      <a:r>
                        <a:rPr lang="ko-KR" altLang="en-US" sz="10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난이도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EASY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HARD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Curriculum_V1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Curriculum_V2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RANDOM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137172"/>
                  </a:ext>
                </a:extLst>
              </a:tr>
              <a:tr h="40067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Agent / Enemy</a:t>
                      </a:r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의 </a:t>
                      </a: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Speed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2.0 / 1.5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2.0 / 1.5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2.0 / 1.5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2.0 / 1.5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2.0 / 1.5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232893"/>
                  </a:ext>
                </a:extLst>
              </a:tr>
              <a:tr h="34949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Agent Lock-on </a:t>
                      </a:r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각도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35 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  <a:sym typeface="Wingdings" panose="05000000000000000000" pitchFamily="2" charset="2"/>
                        </a:rPr>
                        <a:t> 30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697431"/>
                  </a:ext>
                </a:extLst>
              </a:tr>
              <a:tr h="34949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Enemy Lock-on </a:t>
                      </a:r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각도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40893"/>
                  </a:ext>
                </a:extLst>
              </a:tr>
              <a:tr h="34949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 err="1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선회율</a:t>
                      </a: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(</a:t>
                      </a:r>
                      <a:r>
                        <a:rPr lang="en-US" altLang="ko-KR" sz="900" b="0" dirty="0" err="1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t_rate</a:t>
                      </a: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)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0.05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0.05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0.05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0.05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0.1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72549"/>
                  </a:ext>
                </a:extLst>
              </a:tr>
              <a:tr h="34949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시작 위치</a:t>
                      </a: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(</a:t>
                      </a:r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랜덤 </a:t>
                      </a: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/ </a:t>
                      </a:r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적 뒤</a:t>
                      </a: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)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0.9 / 0.1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0.7 / 0.3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0.9 / 0.1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 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0.7 / 0.3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0.8 / 0.2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 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0.7 / 0.3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1 / 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338624"/>
                  </a:ext>
                </a:extLst>
              </a:tr>
              <a:tr h="4006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적의 움직임</a:t>
                      </a:r>
                      <a:endParaRPr lang="en-US" altLang="ko-KR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  <a:p>
                      <a:pPr algn="l" latinLnBrk="1"/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(Hybrid / Pursuit / L+R)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0.2 / 0.3 / 0.5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0.4 / 0.3 / 0.3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0.2 / 0.3 / 0.5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  <a:sym typeface="Wingdings" panose="05000000000000000000" pitchFamily="2" charset="2"/>
                        </a:rPr>
                        <a:t>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0.4 / 0.3 / 0.3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0.3 / 0.3 / 0.4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  <a:sym typeface="Wingdings" panose="05000000000000000000" pitchFamily="2" charset="2"/>
                        </a:rPr>
                        <a:t>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0.4 / 0.3 / 0.3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1 / 0 / 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840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1973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2663C05C-D203-2EE7-7989-BEA35DC4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E867BEC6-378A-63EB-B8EF-38AEDF749F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6.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셋업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20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환경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BC1F3314-3124-7219-82A4-8814C995C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4582" y="807507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4.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재현성 및 통계적 검증</a:t>
            </a:r>
            <a:br>
              <a:rPr lang="en-US" altLang="ko-KR" sz="160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</a:b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- 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독립 시행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단일 학습 결과의 우연성을 배제하기 위해 모든 </a:t>
            </a:r>
            <a:r>
              <a:rPr lang="ko-KR" altLang="en-US" sz="12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실험군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알고리즘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신경망 유닛 수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대해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개의 고정된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사용하여 독립적인 학습을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회 반복함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(2000000 step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고정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- 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신뢰도 확보</a:t>
            </a:r>
            <a:endParaRPr lang="en-US" altLang="ko-KR" sz="14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최종 결과는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회 실험의 평균과 표준오차로 산출되어 성능 안정성을 검증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이후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실험 결과 파트에서 확인 가능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2592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DD4A4BFE-9E40-61BD-A54D-6C2811B3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4016B42B-07E9-8B54-B55D-5CE41EB67D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6.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셋업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20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 지표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DCD77EB2-0D76-BD67-6CF8-2A11E74E3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080" y="693853"/>
            <a:ext cx="8769501" cy="4449647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1.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평가 철학</a:t>
            </a:r>
            <a:endParaRPr lang="en-US" altLang="ko-KR" sz="15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3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객관성 확보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중 얻는 보상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(Reward)</a:t>
            </a:r>
            <a:r>
              <a:rPr lang="ko-KR" altLang="en-US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뿐만 아니라 추가적으로 객관적인 지표가 추가로 필요하다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3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전략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진행도와 무관하게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고정된 기준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(Standardized Benchmark)</a:t>
            </a:r>
            <a:r>
              <a:rPr lang="ko-KR" altLang="en-US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에서 에이전트의 실질적인 전투력을 검증해야 한다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br>
              <a:rPr lang="en-US" altLang="ko-KR" sz="17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7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핵심 지표 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- </a:t>
            </a:r>
            <a:r>
              <a:rPr lang="en-US" altLang="ko-KR" sz="15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Reward</a:t>
            </a:r>
            <a:endParaRPr lang="en-US" altLang="ko-KR" sz="15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altLang="ko-KR" sz="15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Win Rate</a:t>
            </a: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평가 주기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(Checkpoints):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학습의 세밀한 변화 추이를 추적하기 위해 매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20000 step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마다 모델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Checkpoint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저장하여 평가 시 해당 시점의 승률 측정</a:t>
            </a:r>
            <a:endParaRPr lang="en-US" altLang="ko-KR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엄격한 승리 기준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Max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Step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초과나 충돌 등 단순 생존은 배제하고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오직 적을 격추했을 때만 승리로 인정</a:t>
            </a: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통계적 유의성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50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회의 반복 교전을 통해 우연성을 배제하고 승률의 신뢰도 확보</a:t>
            </a:r>
            <a:b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3.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재현성 및 공정성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– Win Rate</a:t>
            </a:r>
            <a:endParaRPr lang="en-US" altLang="ko-KR" sz="16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en-US" altLang="ko-KR" sz="15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Episode-Seed Mapping</a:t>
            </a: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평가 시 각 에피소드 번호에 해당하는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Random Seed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고정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예시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Ep 1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 Seed 1, EP 2  Seed 2, …)</a:t>
            </a: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효과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PPO, SAC, EASY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등 모든 모델이 똑같은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50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개의 시나리오를 수행하게 하여 공정한 비교가 보장</a:t>
            </a:r>
            <a:b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b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1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8641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4A5EE3C8-EBF7-8933-A190-FD415CD6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4300F9EA-C71A-9FB7-0921-1B372D5727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02" y="9633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6.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셋업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20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 지표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70B6AEF3-97F3-FEFA-4256-BFB7327F1C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102" y="450013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4.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평가 난이도 최적화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- 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 보정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문제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평가 난이도가 너무 낮으면 승률이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100%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수렴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난이도가 너무 높으면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0%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수렴하여 성능 증가율을 파악할 수 없음</a:t>
            </a: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해결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수많은 사전 실험을 통해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모델의 성장 추이를 민감하게 보여줄 수 있는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EVAL_LV.1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도출하여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Baseline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설정</a:t>
            </a:r>
            <a:endParaRPr lang="en-US" altLang="ko-KR" sz="1200" dirty="0">
              <a:solidFill>
                <a:srgbClr val="FF0000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계층적 평가 </a:t>
            </a:r>
            <a:endParaRPr lang="en-US" altLang="ko-KR" sz="14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목적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상위권 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 간의 미세한 성능 차이를 검증하면서도 실험의 효율성을 확보하기 위함</a:t>
            </a:r>
            <a:endParaRPr lang="en-US" altLang="ko-KR" sz="12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Step 1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 모든 모델을 </a:t>
            </a:r>
            <a:r>
              <a:rPr lang="en-US" altLang="ko-KR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EVAL_LV.1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에서 평가하여 기본적인 성능 수렴 여부를 확인</a:t>
            </a:r>
            <a:endParaRPr lang="en-US" altLang="ko-KR" sz="12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Step 2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en-US" altLang="ko-KR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EVAL_LV.1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에서 성능이 유사하거나 포화 상태에 도달한 최상위 모델들에 한해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난이도를 상향한 </a:t>
            </a:r>
            <a:r>
              <a:rPr lang="en-US" altLang="ko-KR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EVAL_LV.2</a:t>
            </a:r>
            <a:r>
              <a:rPr lang="ko-KR" altLang="en-US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환경에서 추가 평가를 수행하여 변별력을 확보함</a:t>
            </a:r>
            <a:b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b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3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067B3A0-67FD-36A3-204C-4E24B0D51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882189"/>
              </p:ext>
            </p:extLst>
          </p:nvPr>
        </p:nvGraphicFramePr>
        <p:xfrm>
          <a:off x="1344530" y="3438838"/>
          <a:ext cx="5566868" cy="16267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7522">
                  <a:extLst>
                    <a:ext uri="{9D8B030D-6E8A-4147-A177-3AD203B41FA5}">
                      <a16:colId xmlns:a16="http://schemas.microsoft.com/office/drawing/2014/main" val="3125161896"/>
                    </a:ext>
                  </a:extLst>
                </a:gridCol>
                <a:gridCol w="1719673">
                  <a:extLst>
                    <a:ext uri="{9D8B030D-6E8A-4147-A177-3AD203B41FA5}">
                      <a16:colId xmlns:a16="http://schemas.microsoft.com/office/drawing/2014/main" val="1035376961"/>
                    </a:ext>
                  </a:extLst>
                </a:gridCol>
                <a:gridCol w="1719673">
                  <a:extLst>
                    <a:ext uri="{9D8B030D-6E8A-4147-A177-3AD203B41FA5}">
                      <a16:colId xmlns:a16="http://schemas.microsoft.com/office/drawing/2014/main" val="557815473"/>
                    </a:ext>
                  </a:extLst>
                </a:gridCol>
              </a:tblGrid>
              <a:tr h="187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Parameter \ </a:t>
                      </a:r>
                      <a:r>
                        <a:rPr lang="ko-KR" altLang="en-US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난이도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EVAL_LV.1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EVAL_LV.2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137172"/>
                  </a:ext>
                </a:extLst>
              </a:tr>
              <a:tr h="1871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Agent / Enemy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의 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Speed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2.0 / 1.5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2.0 / 1.5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232893"/>
                  </a:ext>
                </a:extLst>
              </a:tr>
              <a:tr h="1871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Agent Lock-on 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각도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30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697431"/>
                  </a:ext>
                </a:extLst>
              </a:tr>
              <a:tr h="1871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Enemy Lock-on 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각도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40893"/>
                  </a:ext>
                </a:extLst>
              </a:tr>
              <a:tr h="1871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선회율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(</a:t>
                      </a:r>
                      <a:r>
                        <a:rPr lang="en-US" altLang="ko-KR" sz="900" dirty="0" err="1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t_rate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)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0.04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0.05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72549"/>
                  </a:ext>
                </a:extLst>
              </a:tr>
              <a:tr h="1871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시작 위치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(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랜덤 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/ 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적 뒤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)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0.3 / 0.7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0.5 / 0.5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338624"/>
                  </a:ext>
                </a:extLst>
              </a:tr>
              <a:tr h="25519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적의 움직임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 (Hybrid / Pursuit / L+R)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0.3 / 0.3 / 0.4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0.4 / 0.2 / 0.4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840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254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53D21212-8D58-478A-A1B3-F1975213F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481E1E9D-4982-8C3D-FED5-8775757CB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582" y="269053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6.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셋업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20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비교 실험 설계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AC7CB4E0-E414-7BB8-3A5B-EF76A0CE42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418" y="636064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ko-KR" altLang="en-US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동일한 평가 환경 하에서 단일 변수</a:t>
            </a:r>
            <a:r>
              <a:rPr lang="en-US" altLang="ko-KR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/</a:t>
            </a:r>
            <a:r>
              <a:rPr lang="ko-KR" altLang="en-US" sz="13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 만을 변경하며 성능 차이를 분석</a:t>
            </a:r>
            <a:endParaRPr lang="en-US" altLang="ko-KR" sz="13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알고리즘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PPO vs SAC 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알고리즘 비교 </a:t>
            </a:r>
            <a:endParaRPr lang="en-US" altLang="ko-KR" sz="12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희소 보상 및 연속 제어 환경에서의 샘플 효율성과 최종 수렴 성능 차이 확인</a:t>
            </a:r>
            <a:endParaRPr lang="en-US" altLang="ko-KR" sz="11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구조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신경망 유닛 수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(64 vs 128 vs 256)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따른 수렴 속도와 효율성 비교</a:t>
            </a:r>
            <a:endParaRPr lang="en-US" altLang="ko-KR" sz="12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 복잡도에 따른 학습 속도와 실시간 추론 효율성 간의 트레이드오프 분석</a:t>
            </a:r>
            <a:endParaRPr lang="en-US" altLang="ko-KR" sz="11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285750" lvl="0" indent="-2857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전략</a:t>
            </a:r>
            <a:r>
              <a:rPr lang="en-US" altLang="ko-KR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2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여러 가지 고정 환경 학습과 커리큘럼 학습 각각의 최종 수렴 안정성 비교</a:t>
            </a:r>
            <a:endParaRPr lang="en-US" altLang="ko-KR" sz="12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고정 환경</a:t>
            </a:r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(Fixed): </a:t>
            </a: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목표 환경 직접 노출을 통한 학습 효율 검증</a:t>
            </a:r>
            <a:endParaRPr lang="en-US" altLang="ko-KR" sz="11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742950" lvl="1" indent="-285750">
              <a:lnSpc>
                <a:spcPct val="100000"/>
              </a:lnSpc>
              <a:buFontTx/>
              <a:buChar char="-"/>
            </a:pP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커리큘럼 환경</a:t>
            </a:r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(Curriculum): </a:t>
            </a: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 전이 과정에서의 적응 비용</a:t>
            </a:r>
            <a:r>
              <a:rPr lang="en-US" altLang="ko-KR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(cost)</a:t>
            </a:r>
            <a:r>
              <a:rPr lang="ko-KR" altLang="en-US" sz="11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와 초기 학습 안정성 간의 상관관계 분석</a:t>
            </a:r>
            <a:endParaRPr lang="en-US" altLang="ko-KR" sz="11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3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1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E45642A-3EB7-468E-98D0-81CDA47EF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086166"/>
              </p:ext>
            </p:extLst>
          </p:nvPr>
        </p:nvGraphicFramePr>
        <p:xfrm>
          <a:off x="328795" y="3236050"/>
          <a:ext cx="5961596" cy="1241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2257">
                  <a:extLst>
                    <a:ext uri="{9D8B030D-6E8A-4147-A177-3AD203B41FA5}">
                      <a16:colId xmlns:a16="http://schemas.microsoft.com/office/drawing/2014/main" val="3125161896"/>
                    </a:ext>
                  </a:extLst>
                </a:gridCol>
                <a:gridCol w="856067">
                  <a:extLst>
                    <a:ext uri="{9D8B030D-6E8A-4147-A177-3AD203B41FA5}">
                      <a16:colId xmlns:a16="http://schemas.microsoft.com/office/drawing/2014/main" val="1035376961"/>
                    </a:ext>
                  </a:extLst>
                </a:gridCol>
                <a:gridCol w="955818">
                  <a:extLst>
                    <a:ext uri="{9D8B030D-6E8A-4147-A177-3AD203B41FA5}">
                      <a16:colId xmlns:a16="http://schemas.microsoft.com/office/drawing/2014/main" val="557815473"/>
                    </a:ext>
                  </a:extLst>
                </a:gridCol>
                <a:gridCol w="955818">
                  <a:extLst>
                    <a:ext uri="{9D8B030D-6E8A-4147-A177-3AD203B41FA5}">
                      <a16:colId xmlns:a16="http://schemas.microsoft.com/office/drawing/2014/main" val="2307434565"/>
                    </a:ext>
                  </a:extLst>
                </a:gridCol>
                <a:gridCol w="955818">
                  <a:extLst>
                    <a:ext uri="{9D8B030D-6E8A-4147-A177-3AD203B41FA5}">
                      <a16:colId xmlns:a16="http://schemas.microsoft.com/office/drawing/2014/main" val="363487172"/>
                    </a:ext>
                  </a:extLst>
                </a:gridCol>
                <a:gridCol w="955818">
                  <a:extLst>
                    <a:ext uri="{9D8B030D-6E8A-4147-A177-3AD203B41FA5}">
                      <a16:colId xmlns:a16="http://schemas.microsoft.com/office/drawing/2014/main" val="2702643750"/>
                    </a:ext>
                  </a:extLst>
                </a:gridCol>
              </a:tblGrid>
              <a:tr h="291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실험</a:t>
                      </a:r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 \ </a:t>
                      </a:r>
                      <a:r>
                        <a:rPr lang="ko-KR" altLang="en-US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비교군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비교군 </a:t>
                      </a:r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1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비교군 </a:t>
                      </a:r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2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비교군 </a:t>
                      </a:r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3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비교군 </a:t>
                      </a:r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4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비교군 </a:t>
                      </a:r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5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137172"/>
                  </a:ext>
                </a:extLst>
              </a:tr>
              <a:tr h="2918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Algorithm (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알고리즘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)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PPO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SAC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232893"/>
                  </a:ext>
                </a:extLst>
              </a:tr>
              <a:tr h="3352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Neural Network </a:t>
                      </a:r>
                      <a:b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</a:b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(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네트워크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)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[64, 64]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[128, 128]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[256, 256]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  <a:p>
                      <a:pPr algn="ctr" latinLnBrk="1"/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697431"/>
                  </a:ext>
                </a:extLst>
              </a:tr>
              <a:tr h="29185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Difficulty (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난이도</a:t>
                      </a:r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)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EASY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HARD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Curriculum_V1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Curriculum_V2</a:t>
                      </a:r>
                      <a:endParaRPr lang="ko-KR" altLang="en-US" sz="900" b="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RANDOM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408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A194F9F-2ECC-C52E-C845-A6CF08E4D50E}"/>
              </a:ext>
            </a:extLst>
          </p:cNvPr>
          <p:cNvSpPr txBox="1"/>
          <p:nvPr/>
        </p:nvSpPr>
        <p:spPr>
          <a:xfrm>
            <a:off x="389782" y="4528490"/>
            <a:ext cx="597201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표에서 음영처리 된 것은 </a:t>
            </a:r>
            <a:r>
              <a:rPr lang="en-US" altLang="ko-KR" sz="9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Baseline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9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알고리즘을 평가할 때는 </a:t>
            </a:r>
            <a:r>
              <a:rPr lang="en-US" altLang="ko-KR" sz="9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[128, 128], HARD</a:t>
            </a:r>
            <a:r>
              <a:rPr lang="ko-KR" altLang="en-US" sz="9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로 통일</a:t>
            </a:r>
            <a:endParaRPr lang="en-US" altLang="ko-KR" sz="900" dirty="0">
              <a:latin typeface="LG Smart UI Regular" panose="020B0500000101010101" pitchFamily="34" charset="-127"/>
              <a:ea typeface="LG Smart UI Regular" panose="020B0500000101010101" pitchFamily="34" charset="-127"/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9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난이도를 평가할 때는 </a:t>
            </a:r>
            <a:r>
              <a:rPr lang="en-US" altLang="ko-KR" sz="9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SAC, [128, 128]</a:t>
            </a:r>
            <a:r>
              <a:rPr lang="ko-KR" altLang="en-US" sz="900" dirty="0"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로 통일</a:t>
            </a:r>
            <a:endParaRPr lang="ko-KR" altLang="en-US" sz="9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68923-5DEA-C640-30B3-6C99DC9306B8}"/>
              </a:ext>
            </a:extLst>
          </p:cNvPr>
          <p:cNvSpPr txBox="1"/>
          <p:nvPr/>
        </p:nvSpPr>
        <p:spPr>
          <a:xfrm>
            <a:off x="4428798" y="4743390"/>
            <a:ext cx="528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Checkpoint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필요하시거나 추가 문의 사항 있으시면 메일로 연락주시면 감사드리겠습니다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E-Mail: alwayzhan@gmail.com</a:t>
            </a:r>
          </a:p>
        </p:txBody>
      </p:sp>
    </p:spTree>
    <p:extLst>
      <p:ext uri="{BB962C8B-B14F-4D97-AF65-F5344CB8AC3E}">
        <p14:creationId xmlns:p14="http://schemas.microsoft.com/office/powerpoint/2010/main" val="2527262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9487650A-BD84-8BEC-99A9-988F8431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그래프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FBEC28-701C-B675-4EE6-82A51109B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6113"/>
            <a:ext cx="3110441" cy="1866265"/>
          </a:xfrm>
          <a:prstGeom prst="rect">
            <a:avLst/>
          </a:prstGeom>
        </p:spPr>
      </p:pic>
      <p:pic>
        <p:nvPicPr>
          <p:cNvPr id="6" name="그림 5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459CEE-48D7-7B6E-ADE4-CF4A07A34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276" y="759153"/>
            <a:ext cx="3050829" cy="1830497"/>
          </a:xfrm>
          <a:prstGeom prst="rect">
            <a:avLst/>
          </a:prstGeom>
        </p:spPr>
      </p:pic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2D15A71F-08A3-16DE-BD87-4C57758B4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000" y="10301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7.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결과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1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20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알고리즘 성능 비교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6172428D-2201-7462-A098-E645C7843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1652" y="468641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1. PPO vs SAC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곡선 분석</a:t>
            </a: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8" name="Google Shape;32;p5">
            <a:extLst>
              <a:ext uri="{FF2B5EF4-FFF2-40B4-BE49-F238E27FC236}">
                <a16:creationId xmlns:a16="http://schemas.microsoft.com/office/drawing/2014/main" id="{E0D747CC-393C-D9C3-6D13-43DE0C78B6C1}"/>
              </a:ext>
            </a:extLst>
          </p:cNvPr>
          <p:cNvSpPr txBox="1">
            <a:spLocks/>
          </p:cNvSpPr>
          <p:nvPr/>
        </p:nvSpPr>
        <p:spPr>
          <a:xfrm>
            <a:off x="114418" y="2582378"/>
            <a:ext cx="6951015" cy="2458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성능 격차 확인</a:t>
            </a: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SAC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동일한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200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만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Step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시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SAC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는 평균 보상이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10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점 </a:t>
            </a:r>
            <a:r>
              <a:rPr lang="ko-KR" altLang="en-US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후반대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승률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70%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수렴함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PPO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반면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PPO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는 평균 보상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5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점 미만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승률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10%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대에 머무르며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유의미한 정책을 학습하지 못함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원인 분석</a:t>
            </a: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PPO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(On-Policy):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데이터를 일회성으로 소비하여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희소한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격추 성공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＇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경험을 충분히 학습하지 못함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SAC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(Off-Policy): Replay Buffer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통해 과거의 성공 데이터를 지속적으로 </a:t>
            </a:r>
            <a:r>
              <a:rPr lang="ko-KR" altLang="en-US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재학습하여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복잡한 전술 기동을 효과적으로 습득</a:t>
            </a:r>
            <a:b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결론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SAC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채택</a:t>
            </a:r>
            <a:endParaRPr lang="en-US" altLang="ko-KR" sz="14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데이터의 효율성이 성능 결정의 핵심 요인임을 확인하고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SAC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를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Baseline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결정</a:t>
            </a:r>
            <a:endParaRPr lang="en-US" altLang="ko-KR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2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12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E96862-B5E9-8D2B-52D3-C999DE597ABC}"/>
              </a:ext>
            </a:extLst>
          </p:cNvPr>
          <p:cNvSpPr txBox="1"/>
          <p:nvPr/>
        </p:nvSpPr>
        <p:spPr>
          <a:xfrm>
            <a:off x="1134899" y="2464028"/>
            <a:ext cx="18115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 Reward Graph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375C4D-C4BD-3F54-B085-48D6EEE9A1E9}"/>
              </a:ext>
            </a:extLst>
          </p:cNvPr>
          <p:cNvSpPr txBox="1"/>
          <p:nvPr/>
        </p:nvSpPr>
        <p:spPr>
          <a:xfrm>
            <a:off x="3834806" y="2481928"/>
            <a:ext cx="18115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8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8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D45A6F-94D5-E230-B13F-CD27255B9630}"/>
              </a:ext>
            </a:extLst>
          </p:cNvPr>
          <p:cNvSpPr txBox="1"/>
          <p:nvPr/>
        </p:nvSpPr>
        <p:spPr>
          <a:xfrm>
            <a:off x="6102297" y="237808"/>
            <a:ext cx="2659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실선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평균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음영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신뢰구간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543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FF19BB18-A5FA-4A02-1ABF-26996C14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B0B41A-E973-1FD9-67CE-9E0AFE0A4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03" y="772174"/>
            <a:ext cx="2900300" cy="1740180"/>
          </a:xfrm>
          <a:prstGeom prst="rect">
            <a:avLst/>
          </a:prstGeom>
        </p:spPr>
      </p:pic>
      <p:pic>
        <p:nvPicPr>
          <p:cNvPr id="7" name="그림 6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32EE62-6AE3-9A30-FE85-C21618B6B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509" y="765671"/>
            <a:ext cx="2900301" cy="1740180"/>
          </a:xfrm>
          <a:prstGeom prst="rect">
            <a:avLst/>
          </a:prstGeom>
        </p:spPr>
      </p:pic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EDFC0FA8-4258-4F63-BF15-FCBCA40E30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000" y="10301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7.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결과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2 | </a:t>
            </a:r>
            <a:r>
              <a:rPr lang="ko-KR" altLang="en-US" sz="20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네트워크 구조 최적화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E61A8457-0E98-E95F-2687-48BE4FDE7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1652" y="468641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1. Neuron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수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(64 vs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128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vs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256)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따른 성능 비교</a:t>
            </a: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8" name="Google Shape;32;p5">
            <a:extLst>
              <a:ext uri="{FF2B5EF4-FFF2-40B4-BE49-F238E27FC236}">
                <a16:creationId xmlns:a16="http://schemas.microsoft.com/office/drawing/2014/main" id="{AA0FBF01-0BA9-B251-24B0-5608C51D20FD}"/>
              </a:ext>
            </a:extLst>
          </p:cNvPr>
          <p:cNvSpPr txBox="1">
            <a:spLocks/>
          </p:cNvSpPr>
          <p:nvPr/>
        </p:nvSpPr>
        <p:spPr>
          <a:xfrm>
            <a:off x="114418" y="2582378"/>
            <a:ext cx="6951015" cy="2458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수렴 속도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vs 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최종 성능</a:t>
            </a:r>
            <a:endParaRPr lang="en-US" altLang="ko-KR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256 Unit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128 Unit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보다 빠르게 수렴하고 성능이 가장 좋음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128 Unit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256 Unit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비해 느리게 수렴하나 최종 도달한 성능은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256 Unit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과 큰 차이가 없음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64 Unit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256 Unit, 128 Unit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비해 정교한 움직임을 보여주지 못하며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Reward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및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Win Rate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차이가 눈에 띄게 존재함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Trade-off 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분석</a:t>
            </a:r>
            <a:endParaRPr lang="en-US" altLang="ko-KR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모델의 파라미터 수가 늘어날 수록 연산 비용이 증가함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(64Unit: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약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50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분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128 Unit: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약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100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분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256 Unit: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약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180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분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최종 성능이 비슷하다면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동일 시간 안에 많은 시뮬레이션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많은 실험을 할 수 있는 가벼운 모델을 선택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결론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128 Unit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채택</a:t>
            </a:r>
            <a:endParaRPr lang="en-US" altLang="ko-KR" sz="14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-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불필요한 연산 자원 낭비를 막고 실험 효율성을 높이기 위해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128Unit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구조를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Baseline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결정</a:t>
            </a:r>
            <a:endParaRPr lang="en-US" altLang="ko-KR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2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ko-KR" altLang="en-US" sz="12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49DF0-E916-3E12-AF64-BA8DC3280CF5}"/>
              </a:ext>
            </a:extLst>
          </p:cNvPr>
          <p:cNvSpPr txBox="1"/>
          <p:nvPr/>
        </p:nvSpPr>
        <p:spPr>
          <a:xfrm>
            <a:off x="1238992" y="2397692"/>
            <a:ext cx="18115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Reward Graph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89949-786E-95A9-E11E-360D6225FC5D}"/>
              </a:ext>
            </a:extLst>
          </p:cNvPr>
          <p:cNvSpPr txBox="1"/>
          <p:nvPr/>
        </p:nvSpPr>
        <p:spPr>
          <a:xfrm>
            <a:off x="3357437" y="2408350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EVAL_LV.1)</a:t>
            </a:r>
          </a:p>
        </p:txBody>
      </p:sp>
      <p:pic>
        <p:nvPicPr>
          <p:cNvPr id="12" name="그림 11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35E631-EF7A-98D2-8690-F990DCF55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775" y="772175"/>
            <a:ext cx="2900300" cy="17401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A8B234-0BEF-8479-F328-6DA095F03F00}"/>
              </a:ext>
            </a:extLst>
          </p:cNvPr>
          <p:cNvSpPr txBox="1"/>
          <p:nvPr/>
        </p:nvSpPr>
        <p:spPr>
          <a:xfrm>
            <a:off x="6102791" y="2397692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655B0B-074C-2FA1-67A8-8F33D82CE202}"/>
              </a:ext>
            </a:extLst>
          </p:cNvPr>
          <p:cNvSpPr txBox="1"/>
          <p:nvPr/>
        </p:nvSpPr>
        <p:spPr>
          <a:xfrm>
            <a:off x="6145837" y="269392"/>
            <a:ext cx="2659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실선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평균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음영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신뢰구간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5172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52E3E538-B0A1-47AA-271A-E45DECA86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텍스트, 그래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104D68-F03C-B03C-F0D5-6E20501BB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515" y="950889"/>
            <a:ext cx="2948895" cy="1769336"/>
          </a:xfrm>
          <a:prstGeom prst="rect">
            <a:avLst/>
          </a:prstGeom>
        </p:spPr>
      </p:pic>
      <p:pic>
        <p:nvPicPr>
          <p:cNvPr id="4" name="그림 3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320141-9FAF-E415-9965-AAD53A79C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8" y="906772"/>
            <a:ext cx="3022422" cy="1813453"/>
          </a:xfrm>
          <a:prstGeom prst="rect">
            <a:avLst/>
          </a:prstGeom>
        </p:spPr>
      </p:pic>
      <p:pic>
        <p:nvPicPr>
          <p:cNvPr id="6" name="그림 5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AC078C-759C-1B39-5155-C0B43CBCF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7958" y="893441"/>
            <a:ext cx="3022421" cy="1813453"/>
          </a:xfrm>
          <a:prstGeom prst="rect">
            <a:avLst/>
          </a:prstGeom>
        </p:spPr>
      </p:pic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C55B2946-6485-0D63-BEA5-8583FE311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000" y="10301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7.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결과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3 |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전략 분석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30E33754-422C-A07E-593A-9C756DBC8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0440" y="574771"/>
            <a:ext cx="8512800" cy="402657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고정 환경과 점진적 커리큘럼 학습 비교 </a:t>
            </a: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(EASY – HARD – RANDOM - Curriculum_V1 - Curriculum_V2)</a:t>
            </a:r>
            <a:endParaRPr lang="ko-KR" altLang="en-US" sz="14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8" name="Google Shape;32;p5">
            <a:extLst>
              <a:ext uri="{FF2B5EF4-FFF2-40B4-BE49-F238E27FC236}">
                <a16:creationId xmlns:a16="http://schemas.microsoft.com/office/drawing/2014/main" id="{D36D7DCA-DF2F-2EE4-C7A2-5D7A9A0AD69F}"/>
              </a:ext>
            </a:extLst>
          </p:cNvPr>
          <p:cNvSpPr txBox="1">
            <a:spLocks/>
          </p:cNvSpPr>
          <p:nvPr/>
        </p:nvSpPr>
        <p:spPr>
          <a:xfrm>
            <a:off x="168857" y="2770552"/>
            <a:ext cx="6951015" cy="2458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 및 주요 설정 값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(15, 16 slides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참고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EASY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&lt; </a:t>
            </a: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Curriculum_V1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 </a:t>
            </a: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 </a:t>
            </a: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&lt;&lt;&lt;&lt;&lt;&lt;&lt; </a:t>
            </a: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RANDOM</a:t>
            </a:r>
            <a:b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전략 비교</a:t>
            </a:r>
            <a:endParaRPr lang="en-US" altLang="ko-KR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(1) EASY / HARD vs</a:t>
            </a:r>
            <a:r>
              <a:rPr lang="ko-KR" altLang="en-US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RANDOM</a:t>
            </a: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(2) Curriculum_V1</a:t>
            </a:r>
            <a:r>
              <a:rPr lang="ko-KR" altLang="en-US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한계</a:t>
            </a:r>
            <a:endParaRPr lang="en-US" altLang="ko-KR" sz="10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(3) Curriculum_V2</a:t>
            </a:r>
            <a:r>
              <a:rPr lang="ko-KR" altLang="en-US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최적화 </a:t>
            </a: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(HARD</a:t>
            </a:r>
            <a:r>
              <a:rPr lang="ko-KR" altLang="en-US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와의 비교</a:t>
            </a: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12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10741-6DF4-B0B2-7A36-0CBB7020D16F}"/>
              </a:ext>
            </a:extLst>
          </p:cNvPr>
          <p:cNvSpPr txBox="1"/>
          <p:nvPr/>
        </p:nvSpPr>
        <p:spPr>
          <a:xfrm>
            <a:off x="1192019" y="2627197"/>
            <a:ext cx="18115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Reward Graph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C6112B-31D9-423C-8CB5-17082E1067C3}"/>
              </a:ext>
            </a:extLst>
          </p:cNvPr>
          <p:cNvSpPr txBox="1"/>
          <p:nvPr/>
        </p:nvSpPr>
        <p:spPr>
          <a:xfrm>
            <a:off x="3409527" y="2588058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040DD9-85A9-A03D-FE11-F561DE34F124}"/>
              </a:ext>
            </a:extLst>
          </p:cNvPr>
          <p:cNvSpPr txBox="1"/>
          <p:nvPr/>
        </p:nvSpPr>
        <p:spPr>
          <a:xfrm>
            <a:off x="6154881" y="2607307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FE2A85-8EAF-BA59-5B3E-51C2A86E762E}"/>
              </a:ext>
            </a:extLst>
          </p:cNvPr>
          <p:cNvSpPr txBox="1"/>
          <p:nvPr/>
        </p:nvSpPr>
        <p:spPr>
          <a:xfrm>
            <a:off x="6145837" y="269392"/>
            <a:ext cx="2659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실선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평균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음영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신뢰구간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5887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E9BBFCBD-DEFD-A8CF-1528-8204FA37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E09CCD-5F14-7064-6A7E-B16A3CA61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64" y="536766"/>
            <a:ext cx="2810816" cy="1686490"/>
          </a:xfrm>
          <a:prstGeom prst="rect">
            <a:avLst/>
          </a:prstGeom>
        </p:spPr>
      </p:pic>
      <p:pic>
        <p:nvPicPr>
          <p:cNvPr id="19" name="그림 18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92F2CB-21CB-512F-C776-FF6323848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7856" y="556655"/>
            <a:ext cx="2823602" cy="1694161"/>
          </a:xfrm>
          <a:prstGeom prst="rect">
            <a:avLst/>
          </a:prstGeom>
        </p:spPr>
      </p:pic>
      <p:pic>
        <p:nvPicPr>
          <p:cNvPr id="7" name="그림 6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2B3144-4A9A-91CE-BFE5-7BFE8FBDB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6184" y="556655"/>
            <a:ext cx="2872852" cy="1723710"/>
          </a:xfrm>
          <a:prstGeom prst="rect">
            <a:avLst/>
          </a:prstGeom>
        </p:spPr>
      </p:pic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DF27AE12-9A7F-8A74-2467-8BB12E7776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000" y="10301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7.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결과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3 |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전략 비교 </a:t>
            </a:r>
            <a:r>
              <a:rPr lang="en-US" altLang="ko-KR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(1): EASY/HARD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 </a:t>
            </a:r>
            <a:r>
              <a:rPr lang="en-US" altLang="ko-KR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vs RANDOM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8" name="Google Shape;32;p5">
            <a:extLst>
              <a:ext uri="{FF2B5EF4-FFF2-40B4-BE49-F238E27FC236}">
                <a16:creationId xmlns:a16="http://schemas.microsoft.com/office/drawing/2014/main" id="{1069EF29-D19A-DC70-54D3-1249A6375F12}"/>
              </a:ext>
            </a:extLst>
          </p:cNvPr>
          <p:cNvSpPr txBox="1">
            <a:spLocks/>
          </p:cNvSpPr>
          <p:nvPr/>
        </p:nvSpPr>
        <p:spPr>
          <a:xfrm>
            <a:off x="118651" y="2416001"/>
            <a:ext cx="7746817" cy="2727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RANDOM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모드의 학습 실패</a:t>
            </a:r>
            <a:endParaRPr lang="en-US" altLang="ko-KR" sz="14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결과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보상 점수와 승률이 </a:t>
            </a:r>
            <a:r>
              <a:rPr lang="en-US" altLang="ko-KR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0</a:t>
            </a:r>
            <a:r>
              <a:rPr lang="ko-KR" altLang="en-US" sz="14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수렴하며 학습이 전혀 이루어지지 않음</a:t>
            </a:r>
            <a:endParaRPr lang="en-US" altLang="ko-KR" sz="14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원인 분석</a:t>
            </a:r>
            <a:endParaRPr lang="en-US" altLang="ko-KR" sz="14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에이전트가 아무런 가이드 없이 회피 기동을 하는 적을 상대로 유효 타격을 입히는 것은 확률적으로 불가능에 가까움</a:t>
            </a: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인사이트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초기에는 인과관계를 파악할 수 있는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‘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최소한의 성공 경험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＇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을 제공하는 것이 필수적임을 증명함</a:t>
            </a: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최소한의 성공 경험 제공과 적절한 난이도 제공의 사이</a:t>
            </a:r>
            <a:endParaRPr lang="en-US" altLang="ko-KR" sz="14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-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RANDOM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모드처럼 최소한의 성공 경험을 줄 수 없는 난이도를 주는 것은 학습 불능 상태로 만든다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반대로 큰 어려움 없이 성공 경험을 할 수 있도록 하는 것은 어느 순간 학습 진행을 멈추게 한다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 사이에서 적절한 조절이 필요하다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C2A3D1-BC01-AED0-BE25-B59001AC059A}"/>
              </a:ext>
            </a:extLst>
          </p:cNvPr>
          <p:cNvSpPr txBox="1"/>
          <p:nvPr/>
        </p:nvSpPr>
        <p:spPr>
          <a:xfrm>
            <a:off x="1190729" y="2206995"/>
            <a:ext cx="18115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Reward Graph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26986D-F04A-194F-B58E-68E4AF4FB21C}"/>
              </a:ext>
            </a:extLst>
          </p:cNvPr>
          <p:cNvSpPr txBox="1"/>
          <p:nvPr/>
        </p:nvSpPr>
        <p:spPr>
          <a:xfrm>
            <a:off x="3408237" y="2167856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D9A280-DAAF-E50D-CF8E-2863D5A07151}"/>
              </a:ext>
            </a:extLst>
          </p:cNvPr>
          <p:cNvSpPr txBox="1"/>
          <p:nvPr/>
        </p:nvSpPr>
        <p:spPr>
          <a:xfrm>
            <a:off x="6153591" y="2187105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65436-4621-D305-1014-BD7EB3E6ADED}"/>
              </a:ext>
            </a:extLst>
          </p:cNvPr>
          <p:cNvSpPr txBox="1"/>
          <p:nvPr/>
        </p:nvSpPr>
        <p:spPr>
          <a:xfrm>
            <a:off x="6484611" y="296982"/>
            <a:ext cx="2659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실선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평균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음영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신뢰구간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4205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0320F810-E217-C399-FADD-B1F86A35D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4AD6D5-AA64-6AEC-E492-146B5943E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1" y="514946"/>
            <a:ext cx="2975863" cy="1785517"/>
          </a:xfrm>
          <a:prstGeom prst="rect">
            <a:avLst/>
          </a:prstGeom>
        </p:spPr>
      </p:pic>
      <p:pic>
        <p:nvPicPr>
          <p:cNvPr id="7" name="그림 6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FFEBE2-FAC5-4ECD-9BBC-A4239FB42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739" y="558091"/>
            <a:ext cx="2844572" cy="1706743"/>
          </a:xfrm>
          <a:prstGeom prst="rect">
            <a:avLst/>
          </a:prstGeom>
        </p:spPr>
      </p:pic>
      <p:pic>
        <p:nvPicPr>
          <p:cNvPr id="12" name="그림 11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A26E31-876A-A34A-6B08-4524AC02B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007" y="531483"/>
            <a:ext cx="2948301" cy="1768980"/>
          </a:xfrm>
          <a:prstGeom prst="rect">
            <a:avLst/>
          </a:prstGeom>
        </p:spPr>
      </p:pic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160CF888-254B-03C6-5227-6464FC3146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000" y="10301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7.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결과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3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전략 비교 </a:t>
            </a:r>
            <a:r>
              <a:rPr lang="en-US" altLang="ko-KR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(2): Curriculum_V1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의 한계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8" name="Google Shape;32;p5">
            <a:extLst>
              <a:ext uri="{FF2B5EF4-FFF2-40B4-BE49-F238E27FC236}">
                <a16:creationId xmlns:a16="http://schemas.microsoft.com/office/drawing/2014/main" id="{27EB619C-79EB-745B-C7A9-6F9E5FF871A8}"/>
              </a:ext>
            </a:extLst>
          </p:cNvPr>
          <p:cNvSpPr txBox="1">
            <a:spLocks/>
          </p:cNvSpPr>
          <p:nvPr/>
        </p:nvSpPr>
        <p:spPr>
          <a:xfrm>
            <a:off x="139818" y="2420381"/>
            <a:ext cx="6951015" cy="272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1. Curriculum_V1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설계</a:t>
            </a:r>
            <a:endParaRPr lang="en-US" altLang="ko-KR" sz="14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방식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0 Step(EASY)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100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만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Step(HARD)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까지 난이도를 선형 보간 방식으로 증가시킴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  <a:sym typeface="Wingdings" panose="05000000000000000000" pitchFamily="2" charset="2"/>
              </a:rPr>
              <a:t>.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기대 효과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초기에는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EASY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장점을 가져가면서 후반에는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수렴성을 기대함</a:t>
            </a:r>
            <a:endParaRPr lang="ko-KR" altLang="en-US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4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성능 하락 현상 분석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V1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급격한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자 곡선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현상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초반에는 높은 승률을 보였으나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100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만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Step(HARD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도달 시점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부근에서 성능이 급격히 붕괴됨</a:t>
            </a: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원인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</a:t>
            </a: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초반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EASY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환경에서 습득한 단순 추적 습관이 고난도 환경에서는 통하지 않음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기존 정책을 폐기하고 </a:t>
            </a:r>
            <a:r>
              <a:rPr lang="ko-KR" altLang="en-US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재학습하는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과정에서 큰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Cost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발생하여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최종적으로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 Baseline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성능을 넘어서지 못함</a:t>
            </a:r>
            <a:endParaRPr lang="ko-KR" altLang="en-US" sz="1000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D16D43-B783-F5E2-B30A-E225AFD65A35}"/>
              </a:ext>
            </a:extLst>
          </p:cNvPr>
          <p:cNvSpPr txBox="1"/>
          <p:nvPr/>
        </p:nvSpPr>
        <p:spPr>
          <a:xfrm>
            <a:off x="1182262" y="2220326"/>
            <a:ext cx="18115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Reward Graph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51D2E3-15FA-1D07-EB9A-275B0A9351F7}"/>
              </a:ext>
            </a:extLst>
          </p:cNvPr>
          <p:cNvSpPr txBox="1"/>
          <p:nvPr/>
        </p:nvSpPr>
        <p:spPr>
          <a:xfrm>
            <a:off x="3399770" y="2220325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10EB4-177A-850A-76A7-8194AC56B826}"/>
              </a:ext>
            </a:extLst>
          </p:cNvPr>
          <p:cNvSpPr txBox="1"/>
          <p:nvPr/>
        </p:nvSpPr>
        <p:spPr>
          <a:xfrm>
            <a:off x="6051990" y="2220325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B1B80A-0917-9A00-611D-EB79161A8281}"/>
              </a:ext>
            </a:extLst>
          </p:cNvPr>
          <p:cNvSpPr txBox="1"/>
          <p:nvPr/>
        </p:nvSpPr>
        <p:spPr>
          <a:xfrm>
            <a:off x="6441870" y="284113"/>
            <a:ext cx="2659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실선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평균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음영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신뢰구간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9705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77654D75-3A9C-3B07-D093-1EF8C1A8D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BA2287-C25E-EF9E-D510-04BB6C8A4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0" y="520945"/>
            <a:ext cx="3004629" cy="1802777"/>
          </a:xfrm>
          <a:prstGeom prst="rect">
            <a:avLst/>
          </a:prstGeom>
        </p:spPr>
      </p:pic>
      <p:pic>
        <p:nvPicPr>
          <p:cNvPr id="7" name="그림 6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493C3F-6FBD-F763-D763-C362F89E2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868" y="515110"/>
            <a:ext cx="3004629" cy="1802778"/>
          </a:xfrm>
          <a:prstGeom prst="rect">
            <a:avLst/>
          </a:prstGeom>
        </p:spPr>
      </p:pic>
      <p:pic>
        <p:nvPicPr>
          <p:cNvPr id="12" name="그림 11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FC9444-0713-5645-2129-2D22DE581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2553" y="508715"/>
            <a:ext cx="3025012" cy="1815007"/>
          </a:xfrm>
          <a:prstGeom prst="rect">
            <a:avLst/>
          </a:prstGeom>
        </p:spPr>
      </p:pic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192E7EC9-46D8-58E4-4FFB-7EE5500A7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000" y="10301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7.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결과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3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전략 비교 </a:t>
            </a:r>
            <a:r>
              <a:rPr lang="en-US" altLang="ko-KR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(3): Curriculum_V2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최적화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8" name="Google Shape;32;p5">
            <a:extLst>
              <a:ext uri="{FF2B5EF4-FFF2-40B4-BE49-F238E27FC236}">
                <a16:creationId xmlns:a16="http://schemas.microsoft.com/office/drawing/2014/main" id="{44356ABB-9800-A379-FB35-E3EBC6C93BF9}"/>
              </a:ext>
            </a:extLst>
          </p:cNvPr>
          <p:cNvSpPr txBox="1">
            <a:spLocks/>
          </p:cNvSpPr>
          <p:nvPr/>
        </p:nvSpPr>
        <p:spPr>
          <a:xfrm>
            <a:off x="139818" y="2329557"/>
            <a:ext cx="6951015" cy="2963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개선 전략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Start Difficulty 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상향</a:t>
            </a:r>
            <a:endParaRPr lang="en-US" altLang="ko-KR" sz="14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시작 난이도를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EASY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보다 높게 설정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(NORMAL)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하여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초기 학습과 최종 목표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(HARD)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간의 격차를 축소</a:t>
            </a:r>
            <a:endParaRPr lang="en-US" altLang="ko-KR" sz="105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Slower Ramp</a:t>
            </a: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난이도 상승 기울기를 완만하게 조절하여 에이전트가 환경 변화에 부드럽게 적응하도록 유도</a:t>
            </a:r>
            <a:endParaRPr lang="en-US" altLang="ko-KR" sz="105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05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이를 통해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V1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성능 하락을 제거하고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초기부터 후반까지 안정적인 </a:t>
            </a:r>
            <a:r>
              <a:rPr lang="ko-KR" altLang="en-US" sz="105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우상향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학습 곡선을 그릴 것이다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CB3C8B-4CCA-2B3D-DE38-9BBDDC649A18}"/>
              </a:ext>
            </a:extLst>
          </p:cNvPr>
          <p:cNvSpPr txBox="1"/>
          <p:nvPr/>
        </p:nvSpPr>
        <p:spPr>
          <a:xfrm>
            <a:off x="1182262" y="2220326"/>
            <a:ext cx="18115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Reward Graph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C66C05-1EB3-D40D-E750-E272A3247BCD}"/>
              </a:ext>
            </a:extLst>
          </p:cNvPr>
          <p:cNvSpPr txBox="1"/>
          <p:nvPr/>
        </p:nvSpPr>
        <p:spPr>
          <a:xfrm>
            <a:off x="3399769" y="2220326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4BD421-8E70-99EC-7B6A-64C115A42557}"/>
              </a:ext>
            </a:extLst>
          </p:cNvPr>
          <p:cNvSpPr txBox="1"/>
          <p:nvPr/>
        </p:nvSpPr>
        <p:spPr>
          <a:xfrm>
            <a:off x="6145837" y="2229529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769517-61F0-4D90-52E1-619AEB4C67F1}"/>
              </a:ext>
            </a:extLst>
          </p:cNvPr>
          <p:cNvSpPr txBox="1"/>
          <p:nvPr/>
        </p:nvSpPr>
        <p:spPr>
          <a:xfrm>
            <a:off x="6484611" y="272047"/>
            <a:ext cx="2659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실선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평균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음영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신뢰구간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7507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B78FEC0B-1DFC-D533-5074-266A2570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그래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5C5C98-E8B4-DDEE-6EC4-AA7DD481F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785" y="565339"/>
            <a:ext cx="3178215" cy="1906928"/>
          </a:xfrm>
          <a:prstGeom prst="rect">
            <a:avLst/>
          </a:prstGeom>
        </p:spPr>
      </p:pic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9594048A-7971-F825-B699-7710CE06E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000" y="10301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7.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결과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3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전략 비교 </a:t>
            </a:r>
            <a:r>
              <a:rPr lang="en-US" altLang="ko-KR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(3): Curriculum_V2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최적화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8" name="Google Shape;32;p5">
            <a:extLst>
              <a:ext uri="{FF2B5EF4-FFF2-40B4-BE49-F238E27FC236}">
                <a16:creationId xmlns:a16="http://schemas.microsoft.com/office/drawing/2014/main" id="{CC4996C5-D6A6-BA89-6635-38B3F75E8242}"/>
              </a:ext>
            </a:extLst>
          </p:cNvPr>
          <p:cNvSpPr txBox="1">
            <a:spLocks/>
          </p:cNvSpPr>
          <p:nvPr/>
        </p:nvSpPr>
        <p:spPr>
          <a:xfrm>
            <a:off x="164447" y="603439"/>
            <a:ext cx="6105066" cy="4387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[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EVAL_LV.2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에서의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V2 vs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승률 비교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]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en-US" altLang="ko-KR" sz="16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결과 관찰</a:t>
            </a:r>
            <a:endParaRPr lang="en-US" altLang="ko-KR" sz="14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후반 역전 및 수렴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후반부에서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 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모델이 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V2</a:t>
            </a:r>
            <a:r>
              <a:rPr lang="ko-KR" altLang="en-US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보다 소폭 높은 승률을 기록하다가 최종적으로 </a:t>
            </a:r>
            <a:r>
              <a:rPr lang="ko-KR" altLang="en-US" sz="12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비슷해짐</a:t>
            </a:r>
            <a:endParaRPr lang="en-US" altLang="ko-KR" sz="12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심층 분석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“</a:t>
            </a:r>
            <a:r>
              <a:rPr lang="ko-KR" altLang="en-US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경험의 총량 차이</a:t>
            </a:r>
            <a:r>
              <a:rPr lang="en-US" altLang="ko-KR" sz="14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＂</a:t>
            </a: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고난도 경험의 차이</a:t>
            </a:r>
            <a:r>
              <a:rPr lang="en-US" altLang="ko-KR" sz="12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</a:p>
          <a:p>
            <a:pPr marL="1085850" lvl="2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V2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비해 고난도 적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(Hybrid)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과 어려운 위치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랜덤한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위치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비교적 더 많이 노출됨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어려운 상황을 해결하는 경험의 총량이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V2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보다 많음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085850" lvl="2" indent="-171450">
              <a:lnSpc>
                <a:spcPct val="100000"/>
              </a:lnSpc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초기에는 쉬운 적 위주로 학습하다가 점진적으로 어려운 적의 비중을 늘렸기 </a:t>
            </a:r>
            <a:r>
              <a:rPr lang="ko-KR" altLang="en-US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떄문에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고난도 패턴을 학습할 절대적인 시간이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모델보다 부족</a:t>
            </a: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628650" lvl="1" indent="-171450">
              <a:lnSpc>
                <a:spcPct val="100000"/>
              </a:lnSpc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결론</a:t>
            </a:r>
            <a:endParaRPr lang="en-US" altLang="ko-KR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085850" lvl="2" indent="-171450">
              <a:lnSpc>
                <a:spcPct val="100000"/>
              </a:lnSpc>
              <a:buFontTx/>
              <a:buChar char="-"/>
            </a:pP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는 안정적인 성장을 보장하지만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최고 난이도 환경에 대한 숙련도를 극한으로 끌어올리는 데는 고정 환경 학습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(HARD)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보다 시간이 더 걸릴 수 있다</a:t>
            </a:r>
            <a:r>
              <a:rPr lang="en-US" altLang="ko-KR" sz="9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5EBBCF-EED4-9F5C-0F27-98CE496B5406}"/>
              </a:ext>
            </a:extLst>
          </p:cNvPr>
          <p:cNvSpPr txBox="1"/>
          <p:nvPr/>
        </p:nvSpPr>
        <p:spPr>
          <a:xfrm>
            <a:off x="6817223" y="2392165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3084A2-F0A5-113A-3152-76E8EA603E95}"/>
              </a:ext>
            </a:extLst>
          </p:cNvPr>
          <p:cNvSpPr txBox="1"/>
          <p:nvPr/>
        </p:nvSpPr>
        <p:spPr>
          <a:xfrm>
            <a:off x="6484611" y="296982"/>
            <a:ext cx="2659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실선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평균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음영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신뢰구간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6845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33802C89-0B95-30F7-5C0C-7C30B8BF1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EC90BEDC-29C1-8342-9C5F-7207C2DD5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000" y="10301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7.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실험 결과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3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학습 전략 비교 </a:t>
            </a:r>
            <a:r>
              <a:rPr lang="en-US" altLang="ko-KR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(3): Curriculum_V2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최적화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F9DD46-3882-6959-B93B-FC41EDBD6846}"/>
              </a:ext>
            </a:extLst>
          </p:cNvPr>
          <p:cNvSpPr txBox="1"/>
          <p:nvPr/>
        </p:nvSpPr>
        <p:spPr>
          <a:xfrm>
            <a:off x="6484611" y="340551"/>
            <a:ext cx="2659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실선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평균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r>
              <a:rPr lang="ko-KR" altLang="en-US" sz="800" b="1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그래프의 음영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각 </a:t>
            </a:r>
            <a:r>
              <a:rPr lang="en-US" altLang="ko-KR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Seed(1, 2, 3)</a:t>
            </a:r>
            <a:r>
              <a:rPr lang="ko-KR" altLang="en-US" sz="8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으로 학습된 모델들의 신뢰구간</a:t>
            </a:r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endParaRPr lang="en-US" altLang="ko-KR" sz="800" dirty="0"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pic>
        <p:nvPicPr>
          <p:cNvPr id="16" name="그림 15" descr="텍스트, 그래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3B7344-EC32-4B94-2617-4182A0C16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355" y="815745"/>
            <a:ext cx="2948895" cy="1769336"/>
          </a:xfrm>
          <a:prstGeom prst="rect">
            <a:avLst/>
          </a:prstGeom>
        </p:spPr>
      </p:pic>
      <p:pic>
        <p:nvPicPr>
          <p:cNvPr id="17" name="그림 16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19E521-389E-E9A2-3780-C9720D884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8" y="771628"/>
            <a:ext cx="3022422" cy="1813453"/>
          </a:xfrm>
          <a:prstGeom prst="rect">
            <a:avLst/>
          </a:prstGeom>
        </p:spPr>
      </p:pic>
      <p:pic>
        <p:nvPicPr>
          <p:cNvPr id="18" name="그림 17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ADE70F-28D1-0542-6B55-51E5FAAE7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98" y="758297"/>
            <a:ext cx="3022421" cy="181345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48B9CD6-BBB1-2B75-C436-7835072AB545}"/>
              </a:ext>
            </a:extLst>
          </p:cNvPr>
          <p:cNvSpPr txBox="1"/>
          <p:nvPr/>
        </p:nvSpPr>
        <p:spPr>
          <a:xfrm>
            <a:off x="1160859" y="2492053"/>
            <a:ext cx="181155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Reward Graph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2811C0-F2CC-AA8A-B086-4A3D9F8E4068}"/>
              </a:ext>
            </a:extLst>
          </p:cNvPr>
          <p:cNvSpPr txBox="1"/>
          <p:nvPr/>
        </p:nvSpPr>
        <p:spPr>
          <a:xfrm>
            <a:off x="3378367" y="2452914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84E114-04A2-9298-E463-5E42162075CA}"/>
              </a:ext>
            </a:extLst>
          </p:cNvPr>
          <p:cNvSpPr txBox="1"/>
          <p:nvPr/>
        </p:nvSpPr>
        <p:spPr>
          <a:xfrm>
            <a:off x="6123721" y="2472163"/>
            <a:ext cx="17584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Win Rate Graph – (</a:t>
            </a:r>
            <a:r>
              <a:rPr lang="ko-KR" altLang="en-US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평가</a:t>
            </a:r>
            <a:r>
              <a:rPr lang="en-US" altLang="ko-KR" sz="7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: EVAL_LV.2)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7C114DF-0935-9D36-FE71-BAE2C161E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349079"/>
              </p:ext>
            </p:extLst>
          </p:nvPr>
        </p:nvGraphicFramePr>
        <p:xfrm>
          <a:off x="544929" y="3201763"/>
          <a:ext cx="4854962" cy="12107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9480">
                  <a:extLst>
                    <a:ext uri="{9D8B030D-6E8A-4147-A177-3AD203B41FA5}">
                      <a16:colId xmlns:a16="http://schemas.microsoft.com/office/drawing/2014/main" val="3125161896"/>
                    </a:ext>
                  </a:extLst>
                </a:gridCol>
                <a:gridCol w="1868393">
                  <a:extLst>
                    <a:ext uri="{9D8B030D-6E8A-4147-A177-3AD203B41FA5}">
                      <a16:colId xmlns:a16="http://schemas.microsoft.com/office/drawing/2014/main" val="1035376961"/>
                    </a:ext>
                  </a:extLst>
                </a:gridCol>
                <a:gridCol w="1797089">
                  <a:extLst>
                    <a:ext uri="{9D8B030D-6E8A-4147-A177-3AD203B41FA5}">
                      <a16:colId xmlns:a16="http://schemas.microsoft.com/office/drawing/2014/main" val="557815473"/>
                    </a:ext>
                  </a:extLst>
                </a:gridCol>
              </a:tblGrid>
              <a:tr h="291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구분</a:t>
                      </a:r>
                      <a:endParaRPr lang="ko-KR" altLang="en-US" sz="900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HARD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Curriculum_V2</a:t>
                      </a:r>
                      <a:endParaRPr lang="ko-KR" altLang="en-US" sz="900" b="1" dirty="0">
                        <a:latin typeface="LG Smart UI Regular" panose="020B0500000101010101" pitchFamily="34" charset="-127"/>
                        <a:ea typeface="LG Smart UI Regular" panose="020B0500000101010101" pitchFamily="34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137172"/>
                  </a:ext>
                </a:extLst>
              </a:tr>
              <a:tr h="291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강점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빠른 목표 환경 적응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초기 학습 안정성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232893"/>
                  </a:ext>
                </a:extLst>
              </a:tr>
              <a:tr h="3352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약점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초기 학습 불안정성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고난도 도달 시간 필요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697431"/>
                  </a:ext>
                </a:extLst>
              </a:tr>
              <a:tr h="291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결론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극한의 특정 </a:t>
                      </a:r>
                      <a:r>
                        <a:rPr lang="ko-KR" altLang="en-US" sz="900" dirty="0" err="1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테스크</a:t>
                      </a:r>
                      <a:r>
                        <a:rPr lang="ko-KR" altLang="en-US" sz="90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 수행에 적합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범용적인 </a:t>
                      </a:r>
                      <a:r>
                        <a:rPr lang="ko-KR" altLang="en-US" sz="900" b="0" dirty="0" err="1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테스크</a:t>
                      </a:r>
                      <a:r>
                        <a:rPr lang="ko-KR" altLang="en-US" sz="900" b="0" dirty="0">
                          <a:latin typeface="LG Smart UI Regular" panose="020B0500000101010101" pitchFamily="34" charset="-127"/>
                          <a:ea typeface="LG Smart UI Regular" panose="020B0500000101010101" pitchFamily="34" charset="-127"/>
                        </a:rPr>
                        <a:t> 수행에 적합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408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BF210FD-C488-1028-027E-82E6F8929B89}"/>
              </a:ext>
            </a:extLst>
          </p:cNvPr>
          <p:cNvSpPr txBox="1"/>
          <p:nvPr/>
        </p:nvSpPr>
        <p:spPr>
          <a:xfrm>
            <a:off x="4441498" y="4722133"/>
            <a:ext cx="528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Checkpoint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필요하시거나 추가 문의 사항 있으시면 메일로 연락주시면 감사드리겠습니다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E-Mail: alwayzhan@gmail.com</a:t>
            </a:r>
          </a:p>
        </p:txBody>
      </p:sp>
    </p:spTree>
    <p:extLst>
      <p:ext uri="{BB962C8B-B14F-4D97-AF65-F5344CB8AC3E}">
        <p14:creationId xmlns:p14="http://schemas.microsoft.com/office/powerpoint/2010/main" val="3002161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DDE7827F-529B-F0F6-DC86-B5060774A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9FF6D5FB-AFA8-3B80-BF27-1C9E14209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150" y="26811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8.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토의 및 결론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실험 결과에 대한 생각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8" name="Google Shape;32;p5">
            <a:extLst>
              <a:ext uri="{FF2B5EF4-FFF2-40B4-BE49-F238E27FC236}">
                <a16:creationId xmlns:a16="http://schemas.microsoft.com/office/drawing/2014/main" id="{47B0E60C-FF30-0ED7-4032-EDA62FB4549B}"/>
              </a:ext>
            </a:extLst>
          </p:cNvPr>
          <p:cNvSpPr txBox="1">
            <a:spLocks/>
          </p:cNvSpPr>
          <p:nvPr/>
        </p:nvSpPr>
        <p:spPr>
          <a:xfrm>
            <a:off x="348596" y="755839"/>
            <a:ext cx="8281053" cy="4387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0. </a:t>
            </a:r>
            <a:r>
              <a:rPr lang="ko-KR" altLang="en-US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알고리즘 특성 및 모델 용량의 영향</a:t>
            </a:r>
            <a:endParaRPr lang="en-US" altLang="ko-KR" sz="10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000" dirty="0"/>
              <a:t>본 실험에서 </a:t>
            </a:r>
            <a:r>
              <a:rPr lang="en-US" altLang="ko-KR" sz="1000" dirty="0"/>
              <a:t>PPO</a:t>
            </a:r>
            <a:r>
              <a:rPr lang="ko-KR" altLang="en-US" sz="1000" dirty="0"/>
              <a:t>와 </a:t>
            </a:r>
            <a:r>
              <a:rPr lang="en-US" altLang="ko-KR" sz="1000" dirty="0"/>
              <a:t>SAC</a:t>
            </a:r>
            <a:r>
              <a:rPr lang="ko-KR" altLang="en-US" sz="1000" dirty="0"/>
              <a:t>를 비교했을 때</a:t>
            </a:r>
            <a:r>
              <a:rPr lang="en-US" altLang="ko-KR" sz="1000" dirty="0"/>
              <a:t>, SAC</a:t>
            </a:r>
            <a:r>
              <a:rPr lang="ko-KR" altLang="en-US" sz="1000" dirty="0"/>
              <a:t>가 더 우수한 성능을 보였다</a:t>
            </a:r>
            <a:r>
              <a:rPr lang="en-US" altLang="ko-KR" sz="1000" dirty="0"/>
              <a:t>. </a:t>
            </a:r>
            <a:r>
              <a:rPr lang="ko-KR" altLang="en-US" sz="1000" dirty="0"/>
              <a:t>또한 신경망의 </a:t>
            </a:r>
            <a:r>
              <a:rPr lang="ko-KR" altLang="en-US" sz="1000" dirty="0" err="1"/>
              <a:t>은닉층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유닛수를</a:t>
            </a:r>
            <a:r>
              <a:rPr lang="ko-KR" altLang="en-US" sz="1000" dirty="0"/>
              <a:t> 확장했을 때 유의미한 성능 향상이 관찰되었다</a:t>
            </a:r>
            <a:r>
              <a:rPr lang="en-US" altLang="ko-KR" sz="1000" dirty="0"/>
              <a:t>. </a:t>
            </a:r>
            <a:r>
              <a:rPr lang="ko-KR" altLang="en-US" sz="1000" dirty="0"/>
              <a:t>이는 </a:t>
            </a:r>
            <a:r>
              <a:rPr lang="en-US" altLang="ko-KR" sz="1000" dirty="0"/>
              <a:t>2D</a:t>
            </a:r>
            <a:r>
              <a:rPr lang="ko-KR" altLang="en-US" sz="1000" dirty="0"/>
              <a:t> 기동과 적기 추적이라는 복잡한 </a:t>
            </a:r>
            <a:r>
              <a:rPr lang="en-US" altLang="ko-KR" sz="1000" dirty="0"/>
              <a:t>State</a:t>
            </a:r>
            <a:r>
              <a:rPr lang="ko-KR" altLang="en-US" sz="1000" dirty="0"/>
              <a:t>를 해석하기 위해서는 에이전트가 환경 정보를 충분히 추상화 할 수 있는 표현력이 필수적임을 시사한다</a:t>
            </a:r>
            <a:r>
              <a:rPr lang="en-US" altLang="ko-KR" sz="1000" dirty="0"/>
              <a:t>. </a:t>
            </a:r>
            <a:r>
              <a:rPr lang="ko-KR" altLang="en-US" sz="1000" dirty="0"/>
              <a:t>유닛 수가 부족할 경우에는 복잡한 비행 역학을 온전히 모델링하지 못하는 과소적합</a:t>
            </a:r>
            <a:r>
              <a:rPr lang="en-US" altLang="ko-KR" sz="1000" dirty="0"/>
              <a:t> </a:t>
            </a:r>
            <a:r>
              <a:rPr lang="ko-KR" altLang="en-US" sz="1000" dirty="0"/>
              <a:t>현상이 발생하여 학습 성능이 특정 구간에 정체되는 한계를 보였다</a:t>
            </a:r>
            <a:r>
              <a:rPr lang="en-US" altLang="ko-KR" sz="10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안정성과 특화 성능의 </a:t>
            </a: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Trade-Off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는 초기 학습 실패 확률을 최소화하며 안정적인 </a:t>
            </a:r>
            <a:r>
              <a:rPr lang="ko-KR" altLang="en-US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우상향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그래프를 그렸다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이는 에이전트가 쉬운 과제에서 얻은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기초 지식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＇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을 바탕으로 어려운 과제로 전이하는 과정이 유효했음을 뜻한다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반면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는 초반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0%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성공률이라는 것을 극복해야 했다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이를 돌파한 후에는 목표 환경에 최적화된 정책을 빠르게 수렴시켰다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이는 모든 상황을 습득하기보다 필요한 상황에만 집중했기 때문으로 분석된다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</a:t>
            </a:r>
            <a:r>
              <a:rPr lang="ko-KR" altLang="en-US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범용성의 대가</a:t>
            </a:r>
            <a:endParaRPr lang="en-US" altLang="ko-KR" sz="10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보다 최종 수렴 도달 시간이 늦거나 특정 구간 성능이 낮은 이유는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에이전트의 신경망이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NORMAL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과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특성을 모두 수용할 수 있는 파라미터를 찾아야 했기 때문인 것으로 해석된다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반대로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는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비해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LV.2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평가 기준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고난도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더욱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Fit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하게 학습하였기 때문에 해당 특정 환경에서는 더 높은 점수를 기록할 수 있었다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3. “</a:t>
            </a:r>
            <a:r>
              <a:rPr lang="ko-KR" altLang="en-US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시작부터 어렵게</a:t>
            </a:r>
            <a:r>
              <a:rPr lang="en-US" altLang="ko-KR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“ </a:t>
            </a:r>
            <a:r>
              <a:rPr lang="ko-KR" altLang="en-US" sz="10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전략의 유효성</a:t>
            </a:r>
            <a:endParaRPr lang="en-US" altLang="ko-KR" sz="10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일반적인 강화학습 이론에서는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Sparse Reward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문제로 인해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 Learning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을 권장한다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그러나 위 실험의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결과는 환경의 복잡도가 에이전트의 탐색 능력 범위를 벗어나지 않는다면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처음부터 목표 난이도에 노출시키는 것이 학습 효율 면에서 더 유리할 수 있음을 보여주었다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이는 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환경을 설계할 때부터 에이전트에게 최소한의 성공 경험을 제공하도록 구성하였기 때문에 </a:t>
            </a:r>
            <a:r>
              <a:rPr lang="ko-KR" altLang="en-US" sz="1000" dirty="0" err="1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이같은</a:t>
            </a:r>
            <a:r>
              <a:rPr lang="ko-KR" altLang="en-US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결론이 도출한 것으로 보인다</a:t>
            </a:r>
            <a:r>
              <a:rPr lang="en-US" altLang="ko-KR" sz="10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5481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AA374095-0359-5900-7652-05DF9D92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4A3ABED3-671F-267A-F529-057C8BDDA6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146" y="33796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8.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토의 및 결론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향후 연구 과제 및 개선 사항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8" name="Google Shape;32;p5">
            <a:extLst>
              <a:ext uri="{FF2B5EF4-FFF2-40B4-BE49-F238E27FC236}">
                <a16:creationId xmlns:a16="http://schemas.microsoft.com/office/drawing/2014/main" id="{A70351A5-F3AD-6A3E-ED05-247126061078}"/>
              </a:ext>
            </a:extLst>
          </p:cNvPr>
          <p:cNvSpPr txBox="1">
            <a:spLocks/>
          </p:cNvSpPr>
          <p:nvPr/>
        </p:nvSpPr>
        <p:spPr>
          <a:xfrm>
            <a:off x="304146" y="864365"/>
            <a:ext cx="8071504" cy="4761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위 프로젝트의 한계를 극복하고 에이전트의 성능과 범용성을 극대화하기 위해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컴퓨팅 자원이 충분히 확보된다는 가정 하에 다음과 같은 심화 연구를 제안한다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0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1. 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효율성 극대호를 위한 지식 증류 기법 도입 </a:t>
            </a: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(Teacher-Student)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안정성과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의 성능이라는 두 가지 장점을 모두 취하기 위해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‘Teacher-Student’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학습 구조를 도입한다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b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</a:b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(Curriculum_V2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와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로 예시를 들었지만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이것이 아니더라도 비교적 안정적인 모델과 우수한 성능을 가진 모델로 시도할 만한 가치가 있을 것으로 보인다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)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05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배경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범용적인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는 수렴하는 데 비교적 시간이 걸리며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HARD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모델은 초기 학습의 유연성이 떨어진다는 단점이 있다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05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방법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먼저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Curriculum_V2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로 안정적으로 학습된 모델을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Teacher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로 둔다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이후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HARD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환경에 배치된 초기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Student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모델이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Teacher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모델의 행동 패턴을 모방하도록 손실 함수를 설계하여 학습시킨다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05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기대 효과</a:t>
            </a:r>
            <a:r>
              <a:rPr lang="en-US" altLang="ko-KR" sz="105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Student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모델은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Teacher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모델의 가이드를 통해 초반 탐색 비용을 줄일 수 있다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결과적으로 고난도 환경에 빠르게 적응하면서도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최종적으로는 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Teacher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보다 뛰어난 고성능 에이전트를 확보할 수 있을 것이다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en-US" altLang="ko-KR" sz="10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2. 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자기 복제를 통한 난이도 자동 향상</a:t>
            </a:r>
            <a:endParaRPr lang="en-US" altLang="ko-KR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현재의 한계가 정해져 있는 적을 넘어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일정 수준 이상 학습된 에이전트의 정책을 적 기체에 복사하여 경쟁시키는 전략을 도입한다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이는 알파고와 같이 에이전트가 자신을 이기기 위해 끊임없이 더 강력한 전략을 개발하는 효과를 유도한다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이를 통해 사전에 정의된 난이도를 넘어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예측 불가능한 전술을 구사하는 적을 상대로도 승리할 수 있는 초고성능 에이전트로의 진화를 기대할 수 있다</a:t>
            </a:r>
            <a:r>
              <a:rPr lang="en-US" altLang="ko-KR" sz="105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en-US" altLang="ko-KR" sz="10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0261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86F0D2B4-2971-B750-B935-DA3BFF4C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7EA05138-487A-DDB6-A9FA-6F9B3D512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496" y="420515"/>
            <a:ext cx="8688000" cy="424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8. </a:t>
            </a:r>
            <a:r>
              <a:rPr lang="ko-KR" altLang="en-US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토의 및 결론 </a:t>
            </a:r>
            <a:r>
              <a:rPr lang="en-US" altLang="ko-KR" sz="22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| </a:t>
            </a:r>
            <a:r>
              <a:rPr lang="ko-KR" altLang="en-US" sz="1800" b="0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향후 연구 과제 및 개선 사항</a:t>
            </a:r>
            <a:endParaRPr sz="1800" b="0" dirty="0">
              <a:solidFill>
                <a:schemeClr val="accent1">
                  <a:lumMod val="50000"/>
                </a:schemeClr>
              </a:solidFill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8" name="Google Shape;32;p5">
            <a:extLst>
              <a:ext uri="{FF2B5EF4-FFF2-40B4-BE49-F238E27FC236}">
                <a16:creationId xmlns:a16="http://schemas.microsoft.com/office/drawing/2014/main" id="{5309142D-7DBA-0E3C-E3A4-E8065136EC9D}"/>
              </a:ext>
            </a:extLst>
          </p:cNvPr>
          <p:cNvSpPr txBox="1">
            <a:spLocks/>
          </p:cNvSpPr>
          <p:nvPr/>
        </p:nvSpPr>
        <p:spPr>
          <a:xfrm>
            <a:off x="310496" y="1073915"/>
            <a:ext cx="8071504" cy="226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■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3. </a:t>
            </a:r>
            <a:r>
              <a:rPr lang="ko-KR" altLang="en-US" sz="12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시뮬레이션 고도화 및 확장</a:t>
            </a:r>
            <a:endParaRPr lang="en-US" altLang="ko-KR" sz="1200" b="1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충분한 학습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Step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을 확보하여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단순한 특정 난이도 정복이 아닌 무작위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환경에서도 완벽한 대응이 가능한 수준까지 일반화 성능을 끌어올리는 것을 목표로 한다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이를 위해 시뮬레이션 환경을 다음과 같이 다각도로 확장하고자 한다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en-US" altLang="ko-KR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State Dimension </a:t>
            </a:r>
            <a:r>
              <a:rPr lang="ko-KR" altLang="en-US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확장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현재의 위치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속도 정보 외에 연료량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총알 수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등 현실적인 제약 조건을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State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에 추가하여 시뮬레이션의 정밀도를 높인다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이를 통해 에이전트가 단순 기동 뿐만 아니라 자원 관리 능력까지 학습하도록 유도한다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endParaRPr lang="en-US" altLang="ko-KR" sz="11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en-US" altLang="ko-KR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Multi-Agent</a:t>
            </a:r>
            <a:r>
              <a:rPr lang="ko-KR" altLang="en-US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전투 환경 구축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현재의 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1:1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공중전 시나리오를 넘어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다수의 아군과 적군이 협력 및 경쟁하는 환경으로 확장한다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이를 통해 에이전트는 개별 전투 기술 뿐만 아니라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편대 비행 및 전술적 협력 능력을 가질 수 있다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en-US" altLang="ko-KR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Unity </a:t>
            </a:r>
            <a:r>
              <a:rPr lang="ko-KR" altLang="en-US" sz="1100" b="1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기반의 시각화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: Unity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엔진을 연동하여 에이전트의 비행 궤적과 교전 상황을 고품질 그래픽으로 실시간 구현한다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이는 에이전트의 기동을 직관적으로 분석할 수 있게 한다</a:t>
            </a:r>
            <a:r>
              <a:rPr lang="en-US" altLang="ko-KR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  <a:r>
              <a:rPr lang="ko-KR" altLang="en-US" sz="1100" dirty="0">
                <a:solidFill>
                  <a:schemeClr val="tx1"/>
                </a:solidFill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 </a:t>
            </a:r>
            <a:endParaRPr lang="en-US" altLang="ko-KR" sz="1100" dirty="0">
              <a:solidFill>
                <a:schemeClr val="tx1"/>
              </a:solidFill>
              <a:latin typeface="LG Smart UI Regular" panose="020B0500000101010101" pitchFamily="34" charset="-127"/>
              <a:ea typeface="LG Smart UI Regular" panose="020B05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8ECA7-BD76-D6F7-CF3B-B0EF20C9E066}"/>
              </a:ext>
            </a:extLst>
          </p:cNvPr>
          <p:cNvSpPr txBox="1"/>
          <p:nvPr/>
        </p:nvSpPr>
        <p:spPr>
          <a:xfrm>
            <a:off x="4346248" y="4722985"/>
            <a:ext cx="528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Checkpoint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필요하시거나 추가 문의 사항 있으시면 메일로 연락주시면 감사드리겠습니다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E-Mail: alwayzhan@gmail.com</a:t>
            </a:r>
          </a:p>
        </p:txBody>
      </p:sp>
    </p:spTree>
    <p:extLst>
      <p:ext uri="{BB962C8B-B14F-4D97-AF65-F5344CB8AC3E}">
        <p14:creationId xmlns:p14="http://schemas.microsoft.com/office/powerpoint/2010/main" val="1965931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>
          <a:extLst>
            <a:ext uri="{FF2B5EF4-FFF2-40B4-BE49-F238E27FC236}">
              <a16:creationId xmlns:a16="http://schemas.microsoft.com/office/drawing/2014/main" id="{7D0C325F-DBB9-0394-35D3-5C61D6069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3C600420-0148-EDCD-A50D-060BB1F8BF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7898" y="759577"/>
            <a:ext cx="3809328" cy="2312636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n-US" sz="4800" b="0" dirty="0">
                <a:solidFill>
                  <a:schemeClr val="accent1">
                    <a:lumMod val="50000"/>
                  </a:schemeClr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Thank you</a:t>
            </a:r>
            <a:endParaRPr sz="4800" b="0" dirty="0">
              <a:solidFill>
                <a:schemeClr val="accent1">
                  <a:lumMod val="50000"/>
                </a:schemeClr>
              </a:solidFill>
              <a:latin typeface="LG Smart UI Bold" panose="020B0800000101010101" pitchFamily="34" charset="-127"/>
              <a:ea typeface="LG Smart UI Bold" panose="020B08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7BFFE-89A8-988A-2335-11D9E6AB37C1}"/>
              </a:ext>
            </a:extLst>
          </p:cNvPr>
          <p:cNvSpPr txBox="1"/>
          <p:nvPr/>
        </p:nvSpPr>
        <p:spPr>
          <a:xfrm>
            <a:off x="4331176" y="4657670"/>
            <a:ext cx="528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모델 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Checkpoint</a:t>
            </a:r>
            <a:r>
              <a:rPr lang="ko-KR" altLang="en-US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가 필요하시거나 추가 문의 사항 있으시면 메일로 연락주시면 감사드리겠습니다</a:t>
            </a:r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.</a:t>
            </a:r>
          </a:p>
          <a:p>
            <a:r>
              <a:rPr lang="en-US" altLang="ko-KR" sz="1000" dirty="0">
                <a:latin typeface="LG Smart UI Regular" panose="020B0500000101010101" pitchFamily="34" charset="-127"/>
                <a:ea typeface="LG Smart UI Regular" panose="020B0500000101010101" pitchFamily="34" charset="-127"/>
              </a:rPr>
              <a:t>E-Mail: alwayzhan@gmail.com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3C9E1C-1649-E323-A3E1-E3E698F551A5}"/>
              </a:ext>
            </a:extLst>
          </p:cNvPr>
          <p:cNvSpPr txBox="1"/>
          <p:nvPr/>
        </p:nvSpPr>
        <p:spPr>
          <a:xfrm>
            <a:off x="2887898" y="2503973"/>
            <a:ext cx="3002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긴 보고서 내용 읽어 주셔서 감사드립니다</a:t>
            </a: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855046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2057</TotalTime>
  <Words>4927</Words>
  <Application>Microsoft Office PowerPoint</Application>
  <PresentationFormat>화면 슬라이드 쇼(16:9)</PresentationFormat>
  <Paragraphs>496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LG Smart UI Bold</vt:lpstr>
      <vt:lpstr>LG Smart UI Regular</vt:lpstr>
      <vt:lpstr>LG Smart UI SemiBold</vt:lpstr>
      <vt:lpstr>Malgun Gothic</vt:lpstr>
      <vt:lpstr>Arial</vt:lpstr>
      <vt:lpstr>Calibri</vt:lpstr>
      <vt:lpstr>Wingdings</vt:lpstr>
      <vt:lpstr>Simple Light</vt:lpstr>
      <vt:lpstr>“Top Gun: Maverick - Dog Fight” (공중전 에이전트 성능 최적화를 위한 강화학습 설계 요소 비교 분석)</vt:lpstr>
      <vt:lpstr>목차</vt:lpstr>
      <vt:lpstr>1. 프로젝트 주제 및 목표</vt:lpstr>
      <vt:lpstr>1. 프로젝트 주제 및 목표| 핵심 방향</vt:lpstr>
      <vt:lpstr>2. 시뮬레이션 환경 및 규칙 | 시뮬레이션 개요</vt:lpstr>
      <vt:lpstr>2. 시뮬레이션 환경 및 규칙</vt:lpstr>
      <vt:lpstr>2. 시뮬레이션 환경 및 규칙</vt:lpstr>
      <vt:lpstr>3. 환경 설계 | 수많은 시행착오를 통한 ‘학습 가능성＇의 발견</vt:lpstr>
      <vt:lpstr>3. 환경 설계 | 다차원 변수 최적화를 통한 Baseline 학습 환경 구축</vt:lpstr>
      <vt:lpstr>4. 강화학습 설계 | State, Action </vt:lpstr>
      <vt:lpstr>4. 강화학습 설계 | Reward Shaping</vt:lpstr>
      <vt:lpstr>4. 강화학습 설계 | Reward Shaping</vt:lpstr>
      <vt:lpstr>5. 강화학습 알고리즘 선정 및 Hyperparameter 설정</vt:lpstr>
      <vt:lpstr>5. 강화학습 알고리즘 선정 및 Hyperparameter 설정</vt:lpstr>
      <vt:lpstr>6. 실험 셋업 | 학습 환경</vt:lpstr>
      <vt:lpstr>6. 실험 셋업 | 학습 환경</vt:lpstr>
      <vt:lpstr>6. 실험 셋업 | 학습 환경</vt:lpstr>
      <vt:lpstr>6. 실험 셋업 | 평가 지표</vt:lpstr>
      <vt:lpstr>6. 실험 셋업 | 평가 지표</vt:lpstr>
      <vt:lpstr>6. 실험 셋업 | 비교 실험 설계</vt:lpstr>
      <vt:lpstr>7. 실험 결과 1 | 알고리즘 성능 비교</vt:lpstr>
      <vt:lpstr>7. 실험 결과 2 | 네트워크 구조 최적화</vt:lpstr>
      <vt:lpstr>7. 실험 결과 3 | 학습 전략 분석</vt:lpstr>
      <vt:lpstr>7. 실험 결과 3 | 학습 전략 비교 (1): EASY/HARD vs RANDOM</vt:lpstr>
      <vt:lpstr>7. 실험 결과 3 | 학습 전략 비교 (2): Curriculum_V1의 한계</vt:lpstr>
      <vt:lpstr>7. 실험 결과 3 | 학습 전략 비교 (3): Curriculum_V2 최적화</vt:lpstr>
      <vt:lpstr>7. 실험 결과 3 | 학습 전략 비교 (3): Curriculum_V2 최적화</vt:lpstr>
      <vt:lpstr>7. 실험 결과 3 | 학습 전략 비교 (3): Curriculum_V2 최적화</vt:lpstr>
      <vt:lpstr>8. 토의 및 결론 | 실험 결과에 대한 생각</vt:lpstr>
      <vt:lpstr>8. 토의 및 결론 | 향후 연구 과제 및 개선 사항</vt:lpstr>
      <vt:lpstr>8. 토의 및 결론 | 향후 연구 과제 및 개선 사항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ttgogo3@naver.com</cp:lastModifiedBy>
  <cp:revision>117</cp:revision>
  <dcterms:modified xsi:type="dcterms:W3CDTF">2025-12-06T22:08:25Z</dcterms:modified>
</cp:coreProperties>
</file>